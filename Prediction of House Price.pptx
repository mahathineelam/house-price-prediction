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19"/>
  </p:notesMasterIdLst>
  <p:sldIdLst>
    <p:sldId id="3825" r:id="rId5"/>
    <p:sldId id="3826" r:id="rId6"/>
    <p:sldId id="3827" r:id="rId7"/>
    <p:sldId id="3842" r:id="rId8"/>
    <p:sldId id="3832" r:id="rId9"/>
    <p:sldId id="3837" r:id="rId10"/>
    <p:sldId id="3838" r:id="rId11"/>
    <p:sldId id="3840" r:id="rId12"/>
    <p:sldId id="3841" r:id="rId13"/>
    <p:sldId id="3844" r:id="rId14"/>
    <p:sldId id="3845" r:id="rId15"/>
    <p:sldId id="3846" r:id="rId16"/>
    <p:sldId id="3833" r:id="rId17"/>
    <p:sldId id="383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029" autoAdjust="0"/>
    <p:restoredTop sz="94660"/>
  </p:normalViewPr>
  <p:slideViewPr>
    <p:cSldViewPr snapToGrid="0">
      <p:cViewPr varScale="1">
        <p:scale>
          <a:sx n="59" d="100"/>
          <a:sy n="59" d="100"/>
        </p:scale>
        <p:origin x="90" y="360"/>
      </p:cViewPr>
      <p:guideLst>
        <p:guide orient="horz" pos="1200"/>
        <p:guide orient="horz" pos="3408"/>
        <p:guide pos="6936"/>
        <p:guide pos="7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9E422A-5A98-4ED9-91BF-2ABF2A460C3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8762649-1185-4AB6-962B-A007A10126CB}">
      <dgm:prSet/>
      <dgm:spPr/>
      <dgm:t>
        <a:bodyPr/>
        <a:lstStyle/>
        <a:p>
          <a:pPr>
            <a:defRPr cap="all"/>
          </a:pPr>
          <a:r>
            <a:rPr lang="en-US"/>
            <a:t>Introduction </a:t>
          </a:r>
        </a:p>
      </dgm:t>
    </dgm:pt>
    <dgm:pt modelId="{DC1699AF-90CA-48DA-9426-B48843770104}" type="parTrans" cxnId="{DDA9699C-B5EC-4D83-B8A0-2C9D5648D12B}">
      <dgm:prSet/>
      <dgm:spPr/>
      <dgm:t>
        <a:bodyPr/>
        <a:lstStyle/>
        <a:p>
          <a:endParaRPr lang="en-US"/>
        </a:p>
      </dgm:t>
    </dgm:pt>
    <dgm:pt modelId="{76454DB5-1FA2-4DD7-968E-1ED88810D166}" type="sibTrans" cxnId="{DDA9699C-B5EC-4D83-B8A0-2C9D5648D12B}">
      <dgm:prSet/>
      <dgm:spPr/>
      <dgm:t>
        <a:bodyPr/>
        <a:lstStyle/>
        <a:p>
          <a:endParaRPr lang="en-US"/>
        </a:p>
      </dgm:t>
    </dgm:pt>
    <dgm:pt modelId="{1C789145-CB89-4FD1-A721-0AB21F8F1865}">
      <dgm:prSet/>
      <dgm:spPr/>
      <dgm:t>
        <a:bodyPr/>
        <a:lstStyle/>
        <a:p>
          <a:pPr>
            <a:defRPr cap="all"/>
          </a:pPr>
          <a:r>
            <a:rPr lang="en-IN"/>
            <a:t>Experimental Setup </a:t>
          </a:r>
          <a:endParaRPr lang="en-US"/>
        </a:p>
      </dgm:t>
    </dgm:pt>
    <dgm:pt modelId="{3D8D33F1-F54D-4E22-BB04-F0DFD1F8CC30}" type="parTrans" cxnId="{4D676C18-FD37-4EAF-B794-3DE033C09D89}">
      <dgm:prSet/>
      <dgm:spPr/>
      <dgm:t>
        <a:bodyPr/>
        <a:lstStyle/>
        <a:p>
          <a:endParaRPr lang="en-US"/>
        </a:p>
      </dgm:t>
    </dgm:pt>
    <dgm:pt modelId="{007BA128-6379-4539-A342-2F1B1F431333}" type="sibTrans" cxnId="{4D676C18-FD37-4EAF-B794-3DE033C09D89}">
      <dgm:prSet/>
      <dgm:spPr/>
      <dgm:t>
        <a:bodyPr/>
        <a:lstStyle/>
        <a:p>
          <a:endParaRPr lang="en-US"/>
        </a:p>
      </dgm:t>
    </dgm:pt>
    <dgm:pt modelId="{93B913A8-F2B6-4753-9D88-49B028DAED39}">
      <dgm:prSet/>
      <dgm:spPr/>
      <dgm:t>
        <a:bodyPr/>
        <a:lstStyle/>
        <a:p>
          <a:pPr>
            <a:defRPr cap="all"/>
          </a:pPr>
          <a:r>
            <a:rPr lang="en-US"/>
            <a:t>Data analysis </a:t>
          </a:r>
        </a:p>
      </dgm:t>
    </dgm:pt>
    <dgm:pt modelId="{C970814A-978F-4F9D-85CB-4D4F94F080BA}" type="parTrans" cxnId="{3A484815-3D92-4FF1-99B2-77AE688D28DE}">
      <dgm:prSet/>
      <dgm:spPr/>
      <dgm:t>
        <a:bodyPr/>
        <a:lstStyle/>
        <a:p>
          <a:endParaRPr lang="en-US"/>
        </a:p>
      </dgm:t>
    </dgm:pt>
    <dgm:pt modelId="{BE8E2C39-9385-407E-9EBE-57A1B29CC973}" type="sibTrans" cxnId="{3A484815-3D92-4FF1-99B2-77AE688D28DE}">
      <dgm:prSet/>
      <dgm:spPr/>
      <dgm:t>
        <a:bodyPr/>
        <a:lstStyle/>
        <a:p>
          <a:endParaRPr lang="en-US"/>
        </a:p>
      </dgm:t>
    </dgm:pt>
    <dgm:pt modelId="{15065E2C-C709-4DF8-82FE-C0119F978D0B}">
      <dgm:prSet/>
      <dgm:spPr/>
      <dgm:t>
        <a:bodyPr/>
        <a:lstStyle/>
        <a:p>
          <a:pPr>
            <a:defRPr cap="all"/>
          </a:pPr>
          <a:r>
            <a:rPr lang="en-US"/>
            <a:t>Data Pre-Processing</a:t>
          </a:r>
        </a:p>
      </dgm:t>
    </dgm:pt>
    <dgm:pt modelId="{280D3970-38FC-4004-84B7-BD3284E1F8F7}" type="parTrans" cxnId="{8790DA70-C99E-4B93-92DF-38EEC3A3093C}">
      <dgm:prSet/>
      <dgm:spPr/>
      <dgm:t>
        <a:bodyPr/>
        <a:lstStyle/>
        <a:p>
          <a:endParaRPr lang="en-US"/>
        </a:p>
      </dgm:t>
    </dgm:pt>
    <dgm:pt modelId="{8437898E-0AA0-403F-A371-E3757F39BA40}" type="sibTrans" cxnId="{8790DA70-C99E-4B93-92DF-38EEC3A3093C}">
      <dgm:prSet/>
      <dgm:spPr/>
      <dgm:t>
        <a:bodyPr/>
        <a:lstStyle/>
        <a:p>
          <a:endParaRPr lang="en-US"/>
        </a:p>
      </dgm:t>
    </dgm:pt>
    <dgm:pt modelId="{ED2C895C-6696-4B17-877A-B6B71DB7F1C2}">
      <dgm:prSet/>
      <dgm:spPr/>
      <dgm:t>
        <a:bodyPr/>
        <a:lstStyle/>
        <a:p>
          <a:pPr>
            <a:defRPr cap="all"/>
          </a:pPr>
          <a:r>
            <a:rPr lang="en-US"/>
            <a:t>Model Building</a:t>
          </a:r>
        </a:p>
      </dgm:t>
    </dgm:pt>
    <dgm:pt modelId="{550ED913-BED9-4E21-BCFD-2A62B1B66E1B}" type="parTrans" cxnId="{CC830BB1-A3F6-4C35-B44F-468F9425F3FA}">
      <dgm:prSet/>
      <dgm:spPr/>
      <dgm:t>
        <a:bodyPr/>
        <a:lstStyle/>
        <a:p>
          <a:endParaRPr lang="en-US"/>
        </a:p>
      </dgm:t>
    </dgm:pt>
    <dgm:pt modelId="{9D08C636-E89E-48A8-B783-1B0244B65C92}" type="sibTrans" cxnId="{CC830BB1-A3F6-4C35-B44F-468F9425F3FA}">
      <dgm:prSet/>
      <dgm:spPr/>
      <dgm:t>
        <a:bodyPr/>
        <a:lstStyle/>
        <a:p>
          <a:endParaRPr lang="en-US"/>
        </a:p>
      </dgm:t>
    </dgm:pt>
    <dgm:pt modelId="{0AD2E310-A022-494A-A613-9ED4C54E5197}">
      <dgm:prSet/>
      <dgm:spPr/>
      <dgm:t>
        <a:bodyPr/>
        <a:lstStyle/>
        <a:p>
          <a:pPr>
            <a:defRPr cap="all"/>
          </a:pPr>
          <a:r>
            <a:rPr lang="en-US"/>
            <a:t>Conclusion</a:t>
          </a:r>
        </a:p>
      </dgm:t>
    </dgm:pt>
    <dgm:pt modelId="{00D839AB-14B6-4DB2-B14C-284041562AE2}" type="parTrans" cxnId="{AC8F4214-6123-4B18-A428-611BB39A2CB0}">
      <dgm:prSet/>
      <dgm:spPr/>
      <dgm:t>
        <a:bodyPr/>
        <a:lstStyle/>
        <a:p>
          <a:endParaRPr lang="en-US"/>
        </a:p>
      </dgm:t>
    </dgm:pt>
    <dgm:pt modelId="{649F8A3F-969F-40C7-B3B3-73EADAFEF72A}" type="sibTrans" cxnId="{AC8F4214-6123-4B18-A428-611BB39A2CB0}">
      <dgm:prSet/>
      <dgm:spPr/>
      <dgm:t>
        <a:bodyPr/>
        <a:lstStyle/>
        <a:p>
          <a:endParaRPr lang="en-US"/>
        </a:p>
      </dgm:t>
    </dgm:pt>
    <dgm:pt modelId="{4D5D9DE5-F82D-481D-A179-D5528695DBA7}" type="pres">
      <dgm:prSet presAssocID="{459E422A-5A98-4ED9-91BF-2ABF2A460C36}" presName="root" presStyleCnt="0">
        <dgm:presLayoutVars>
          <dgm:dir/>
          <dgm:resizeHandles val="exact"/>
        </dgm:presLayoutVars>
      </dgm:prSet>
      <dgm:spPr/>
    </dgm:pt>
    <dgm:pt modelId="{44170FC0-E262-457C-B484-CFA8B408C6F5}" type="pres">
      <dgm:prSet presAssocID="{88762649-1185-4AB6-962B-A007A10126CB}" presName="compNode" presStyleCnt="0"/>
      <dgm:spPr/>
    </dgm:pt>
    <dgm:pt modelId="{7866636D-5081-45DC-BBF7-09C8035815DD}" type="pres">
      <dgm:prSet presAssocID="{88762649-1185-4AB6-962B-A007A10126CB}" presName="iconBgRect" presStyleLbl="bgShp" presStyleIdx="0" presStyleCnt="6"/>
      <dgm:spPr>
        <a:prstGeom prst="round2DiagRect">
          <a:avLst>
            <a:gd name="adj1" fmla="val 29727"/>
            <a:gd name="adj2" fmla="val 0"/>
          </a:avLst>
        </a:prstGeom>
      </dgm:spPr>
    </dgm:pt>
    <dgm:pt modelId="{1F2D148E-CE89-43D4-A9F7-0FD300716A8D}" type="pres">
      <dgm:prSet presAssocID="{88762649-1185-4AB6-962B-A007A10126C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ke"/>
        </a:ext>
      </dgm:extLst>
    </dgm:pt>
    <dgm:pt modelId="{EB850E61-F0B0-429C-B830-4ECF21298D57}" type="pres">
      <dgm:prSet presAssocID="{88762649-1185-4AB6-962B-A007A10126CB}" presName="spaceRect" presStyleCnt="0"/>
      <dgm:spPr/>
    </dgm:pt>
    <dgm:pt modelId="{E00E838E-925C-4AEC-9C77-EF7519F5B303}" type="pres">
      <dgm:prSet presAssocID="{88762649-1185-4AB6-962B-A007A10126CB}" presName="textRect" presStyleLbl="revTx" presStyleIdx="0" presStyleCnt="6">
        <dgm:presLayoutVars>
          <dgm:chMax val="1"/>
          <dgm:chPref val="1"/>
        </dgm:presLayoutVars>
      </dgm:prSet>
      <dgm:spPr/>
    </dgm:pt>
    <dgm:pt modelId="{036D1397-87DB-4ACA-9107-34A34E363DFD}" type="pres">
      <dgm:prSet presAssocID="{76454DB5-1FA2-4DD7-968E-1ED88810D166}" presName="sibTrans" presStyleCnt="0"/>
      <dgm:spPr/>
    </dgm:pt>
    <dgm:pt modelId="{96DB4437-B34F-41AB-9E37-FAE8B0AD00B9}" type="pres">
      <dgm:prSet presAssocID="{1C789145-CB89-4FD1-A721-0AB21F8F1865}" presName="compNode" presStyleCnt="0"/>
      <dgm:spPr/>
    </dgm:pt>
    <dgm:pt modelId="{FC6826CA-E221-4D10-989E-58E01D3A3E92}" type="pres">
      <dgm:prSet presAssocID="{1C789145-CB89-4FD1-A721-0AB21F8F1865}" presName="iconBgRect" presStyleLbl="bgShp" presStyleIdx="1" presStyleCnt="6"/>
      <dgm:spPr>
        <a:prstGeom prst="round2DiagRect">
          <a:avLst>
            <a:gd name="adj1" fmla="val 29727"/>
            <a:gd name="adj2" fmla="val 0"/>
          </a:avLst>
        </a:prstGeom>
      </dgm:spPr>
    </dgm:pt>
    <dgm:pt modelId="{D706C2C1-36F0-4F74-A93F-3EF9793765BC}" type="pres">
      <dgm:prSet presAssocID="{1C789145-CB89-4FD1-A721-0AB21F8F186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st Plan"/>
        </a:ext>
      </dgm:extLst>
    </dgm:pt>
    <dgm:pt modelId="{B7E381DA-D7FE-48D1-B49C-742D66E7B080}" type="pres">
      <dgm:prSet presAssocID="{1C789145-CB89-4FD1-A721-0AB21F8F1865}" presName="spaceRect" presStyleCnt="0"/>
      <dgm:spPr/>
    </dgm:pt>
    <dgm:pt modelId="{B84FDAA8-A86D-4742-8909-1C495200A0AC}" type="pres">
      <dgm:prSet presAssocID="{1C789145-CB89-4FD1-A721-0AB21F8F1865}" presName="textRect" presStyleLbl="revTx" presStyleIdx="1" presStyleCnt="6">
        <dgm:presLayoutVars>
          <dgm:chMax val="1"/>
          <dgm:chPref val="1"/>
        </dgm:presLayoutVars>
      </dgm:prSet>
      <dgm:spPr/>
    </dgm:pt>
    <dgm:pt modelId="{C730A03B-DA24-448A-9607-526B43C5913F}" type="pres">
      <dgm:prSet presAssocID="{007BA128-6379-4539-A342-2F1B1F431333}" presName="sibTrans" presStyleCnt="0"/>
      <dgm:spPr/>
    </dgm:pt>
    <dgm:pt modelId="{C90FE0F1-D16B-4232-A052-E63D13CDC801}" type="pres">
      <dgm:prSet presAssocID="{93B913A8-F2B6-4753-9D88-49B028DAED39}" presName="compNode" presStyleCnt="0"/>
      <dgm:spPr/>
    </dgm:pt>
    <dgm:pt modelId="{3C0FEC06-8DCB-4692-8EF0-9F94A2BCAB0D}" type="pres">
      <dgm:prSet presAssocID="{93B913A8-F2B6-4753-9D88-49B028DAED39}" presName="iconBgRect" presStyleLbl="bgShp" presStyleIdx="2" presStyleCnt="6"/>
      <dgm:spPr>
        <a:prstGeom prst="round2DiagRect">
          <a:avLst>
            <a:gd name="adj1" fmla="val 29727"/>
            <a:gd name="adj2" fmla="val 0"/>
          </a:avLst>
        </a:prstGeom>
      </dgm:spPr>
    </dgm:pt>
    <dgm:pt modelId="{9C953C5D-C36B-45EB-BD11-00D22112AF8C}" type="pres">
      <dgm:prSet presAssocID="{93B913A8-F2B6-4753-9D88-49B028DAED3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agnostic"/>
        </a:ext>
      </dgm:extLst>
    </dgm:pt>
    <dgm:pt modelId="{C8C82C9D-3935-467C-B7B1-0C55AE70A76C}" type="pres">
      <dgm:prSet presAssocID="{93B913A8-F2B6-4753-9D88-49B028DAED39}" presName="spaceRect" presStyleCnt="0"/>
      <dgm:spPr/>
    </dgm:pt>
    <dgm:pt modelId="{CCBD3FA8-991E-44C4-8CC0-77DBE30D96F7}" type="pres">
      <dgm:prSet presAssocID="{93B913A8-F2B6-4753-9D88-49B028DAED39}" presName="textRect" presStyleLbl="revTx" presStyleIdx="2" presStyleCnt="6">
        <dgm:presLayoutVars>
          <dgm:chMax val="1"/>
          <dgm:chPref val="1"/>
        </dgm:presLayoutVars>
      </dgm:prSet>
      <dgm:spPr/>
    </dgm:pt>
    <dgm:pt modelId="{B07453AF-8BF9-4D1A-BF4C-B1CEF4E8A498}" type="pres">
      <dgm:prSet presAssocID="{BE8E2C39-9385-407E-9EBE-57A1B29CC973}" presName="sibTrans" presStyleCnt="0"/>
      <dgm:spPr/>
    </dgm:pt>
    <dgm:pt modelId="{15E55451-28F6-4F71-A041-0579C4A8B9F6}" type="pres">
      <dgm:prSet presAssocID="{15065E2C-C709-4DF8-82FE-C0119F978D0B}" presName="compNode" presStyleCnt="0"/>
      <dgm:spPr/>
    </dgm:pt>
    <dgm:pt modelId="{5B49B7CC-4BC9-4BBB-AA37-F65893C8448A}" type="pres">
      <dgm:prSet presAssocID="{15065E2C-C709-4DF8-82FE-C0119F978D0B}" presName="iconBgRect" presStyleLbl="bgShp" presStyleIdx="3" presStyleCnt="6"/>
      <dgm:spPr>
        <a:prstGeom prst="round2DiagRect">
          <a:avLst>
            <a:gd name="adj1" fmla="val 29727"/>
            <a:gd name="adj2" fmla="val 0"/>
          </a:avLst>
        </a:prstGeom>
      </dgm:spPr>
    </dgm:pt>
    <dgm:pt modelId="{691EA288-1201-4EA4-93D7-F9CB93963044}" type="pres">
      <dgm:prSet presAssocID="{15065E2C-C709-4DF8-82FE-C0119F978D0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
        </a:ext>
      </dgm:extLst>
    </dgm:pt>
    <dgm:pt modelId="{665AC391-1A8D-4D3D-AECF-6196CDC403A7}" type="pres">
      <dgm:prSet presAssocID="{15065E2C-C709-4DF8-82FE-C0119F978D0B}" presName="spaceRect" presStyleCnt="0"/>
      <dgm:spPr/>
    </dgm:pt>
    <dgm:pt modelId="{287EA2F3-0F1D-4BA7-B30D-B405D6FB0B29}" type="pres">
      <dgm:prSet presAssocID="{15065E2C-C709-4DF8-82FE-C0119F978D0B}" presName="textRect" presStyleLbl="revTx" presStyleIdx="3" presStyleCnt="6">
        <dgm:presLayoutVars>
          <dgm:chMax val="1"/>
          <dgm:chPref val="1"/>
        </dgm:presLayoutVars>
      </dgm:prSet>
      <dgm:spPr/>
    </dgm:pt>
    <dgm:pt modelId="{E3EB9749-8DC8-4272-8A52-756583A60744}" type="pres">
      <dgm:prSet presAssocID="{8437898E-0AA0-403F-A371-E3757F39BA40}" presName="sibTrans" presStyleCnt="0"/>
      <dgm:spPr/>
    </dgm:pt>
    <dgm:pt modelId="{9E91F581-1B5E-45A5-B98A-8C59CD25EC10}" type="pres">
      <dgm:prSet presAssocID="{ED2C895C-6696-4B17-877A-B6B71DB7F1C2}" presName="compNode" presStyleCnt="0"/>
      <dgm:spPr/>
    </dgm:pt>
    <dgm:pt modelId="{4CB5C54E-204B-44A5-AD1E-1C628CB0CB86}" type="pres">
      <dgm:prSet presAssocID="{ED2C895C-6696-4B17-877A-B6B71DB7F1C2}" presName="iconBgRect" presStyleLbl="bgShp" presStyleIdx="4" presStyleCnt="6"/>
      <dgm:spPr>
        <a:prstGeom prst="round2DiagRect">
          <a:avLst>
            <a:gd name="adj1" fmla="val 29727"/>
            <a:gd name="adj2" fmla="val 0"/>
          </a:avLst>
        </a:prstGeom>
      </dgm:spPr>
    </dgm:pt>
    <dgm:pt modelId="{4FE16C06-8201-4844-A693-5936B44F03FC}" type="pres">
      <dgm:prSet presAssocID="{ED2C895C-6696-4B17-877A-B6B71DB7F1C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esign"/>
        </a:ext>
      </dgm:extLst>
    </dgm:pt>
    <dgm:pt modelId="{315FC1D8-8277-4D61-95D4-DF461712BD3C}" type="pres">
      <dgm:prSet presAssocID="{ED2C895C-6696-4B17-877A-B6B71DB7F1C2}" presName="spaceRect" presStyleCnt="0"/>
      <dgm:spPr/>
    </dgm:pt>
    <dgm:pt modelId="{2985A937-CFAE-41A5-9728-C72A115BD388}" type="pres">
      <dgm:prSet presAssocID="{ED2C895C-6696-4B17-877A-B6B71DB7F1C2}" presName="textRect" presStyleLbl="revTx" presStyleIdx="4" presStyleCnt="6">
        <dgm:presLayoutVars>
          <dgm:chMax val="1"/>
          <dgm:chPref val="1"/>
        </dgm:presLayoutVars>
      </dgm:prSet>
      <dgm:spPr/>
    </dgm:pt>
    <dgm:pt modelId="{A82EE7E2-4330-4F53-AA5D-7B19D876DC5F}" type="pres">
      <dgm:prSet presAssocID="{9D08C636-E89E-48A8-B783-1B0244B65C92}" presName="sibTrans" presStyleCnt="0"/>
      <dgm:spPr/>
    </dgm:pt>
    <dgm:pt modelId="{4572BAAA-8F55-4AD6-93D8-F035FCCD39BA}" type="pres">
      <dgm:prSet presAssocID="{0AD2E310-A022-494A-A613-9ED4C54E5197}" presName="compNode" presStyleCnt="0"/>
      <dgm:spPr/>
    </dgm:pt>
    <dgm:pt modelId="{01DE5177-2A24-465F-82C0-0B8A0E1224A9}" type="pres">
      <dgm:prSet presAssocID="{0AD2E310-A022-494A-A613-9ED4C54E5197}" presName="iconBgRect" presStyleLbl="bgShp" presStyleIdx="5" presStyleCnt="6"/>
      <dgm:spPr>
        <a:prstGeom prst="round2DiagRect">
          <a:avLst>
            <a:gd name="adj1" fmla="val 29727"/>
            <a:gd name="adj2" fmla="val 0"/>
          </a:avLst>
        </a:prstGeom>
      </dgm:spPr>
    </dgm:pt>
    <dgm:pt modelId="{19A4AF72-638A-4D2D-8503-0AC98C85975B}" type="pres">
      <dgm:prSet presAssocID="{0AD2E310-A022-494A-A613-9ED4C54E519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low"/>
        </a:ext>
      </dgm:extLst>
    </dgm:pt>
    <dgm:pt modelId="{E26F2080-A7F9-4907-A867-F0BD9ABD9B2C}" type="pres">
      <dgm:prSet presAssocID="{0AD2E310-A022-494A-A613-9ED4C54E5197}" presName="spaceRect" presStyleCnt="0"/>
      <dgm:spPr/>
    </dgm:pt>
    <dgm:pt modelId="{0DCB1CFB-33DC-4B5E-9C13-3F51E6D1A01C}" type="pres">
      <dgm:prSet presAssocID="{0AD2E310-A022-494A-A613-9ED4C54E5197}" presName="textRect" presStyleLbl="revTx" presStyleIdx="5" presStyleCnt="6">
        <dgm:presLayoutVars>
          <dgm:chMax val="1"/>
          <dgm:chPref val="1"/>
        </dgm:presLayoutVars>
      </dgm:prSet>
      <dgm:spPr/>
    </dgm:pt>
  </dgm:ptLst>
  <dgm:cxnLst>
    <dgm:cxn modelId="{D8F50407-2F00-460F-B578-3B3C77AA5ECD}" type="presOf" srcId="{459E422A-5A98-4ED9-91BF-2ABF2A460C36}" destId="{4D5D9DE5-F82D-481D-A179-D5528695DBA7}" srcOrd="0" destOrd="0" presId="urn:microsoft.com/office/officeart/2018/5/layout/IconLeafLabelList"/>
    <dgm:cxn modelId="{AC8F4214-6123-4B18-A428-611BB39A2CB0}" srcId="{459E422A-5A98-4ED9-91BF-2ABF2A460C36}" destId="{0AD2E310-A022-494A-A613-9ED4C54E5197}" srcOrd="5" destOrd="0" parTransId="{00D839AB-14B6-4DB2-B14C-284041562AE2}" sibTransId="{649F8A3F-969F-40C7-B3B3-73EADAFEF72A}"/>
    <dgm:cxn modelId="{3A484815-3D92-4FF1-99B2-77AE688D28DE}" srcId="{459E422A-5A98-4ED9-91BF-2ABF2A460C36}" destId="{93B913A8-F2B6-4753-9D88-49B028DAED39}" srcOrd="2" destOrd="0" parTransId="{C970814A-978F-4F9D-85CB-4D4F94F080BA}" sibTransId="{BE8E2C39-9385-407E-9EBE-57A1B29CC973}"/>
    <dgm:cxn modelId="{4D676C18-FD37-4EAF-B794-3DE033C09D89}" srcId="{459E422A-5A98-4ED9-91BF-2ABF2A460C36}" destId="{1C789145-CB89-4FD1-A721-0AB21F8F1865}" srcOrd="1" destOrd="0" parTransId="{3D8D33F1-F54D-4E22-BB04-F0DFD1F8CC30}" sibTransId="{007BA128-6379-4539-A342-2F1B1F431333}"/>
    <dgm:cxn modelId="{12474041-483D-44BA-BC51-ADA2C2D3724C}" type="presOf" srcId="{1C789145-CB89-4FD1-A721-0AB21F8F1865}" destId="{B84FDAA8-A86D-4742-8909-1C495200A0AC}" srcOrd="0" destOrd="0" presId="urn:microsoft.com/office/officeart/2018/5/layout/IconLeafLabelList"/>
    <dgm:cxn modelId="{2283CA45-7CC3-47E8-9723-75A865E52805}" type="presOf" srcId="{15065E2C-C709-4DF8-82FE-C0119F978D0B}" destId="{287EA2F3-0F1D-4BA7-B30D-B405D6FB0B29}" srcOrd="0" destOrd="0" presId="urn:microsoft.com/office/officeart/2018/5/layout/IconLeafLabelList"/>
    <dgm:cxn modelId="{FBCBD56C-D7D7-4C54-882E-29631FF989ED}" type="presOf" srcId="{0AD2E310-A022-494A-A613-9ED4C54E5197}" destId="{0DCB1CFB-33DC-4B5E-9C13-3F51E6D1A01C}" srcOrd="0" destOrd="0" presId="urn:microsoft.com/office/officeart/2018/5/layout/IconLeafLabelList"/>
    <dgm:cxn modelId="{8790DA70-C99E-4B93-92DF-38EEC3A3093C}" srcId="{459E422A-5A98-4ED9-91BF-2ABF2A460C36}" destId="{15065E2C-C709-4DF8-82FE-C0119F978D0B}" srcOrd="3" destOrd="0" parTransId="{280D3970-38FC-4004-84B7-BD3284E1F8F7}" sibTransId="{8437898E-0AA0-403F-A371-E3757F39BA40}"/>
    <dgm:cxn modelId="{DDA9699C-B5EC-4D83-B8A0-2C9D5648D12B}" srcId="{459E422A-5A98-4ED9-91BF-2ABF2A460C36}" destId="{88762649-1185-4AB6-962B-A007A10126CB}" srcOrd="0" destOrd="0" parTransId="{DC1699AF-90CA-48DA-9426-B48843770104}" sibTransId="{76454DB5-1FA2-4DD7-968E-1ED88810D166}"/>
    <dgm:cxn modelId="{CC830BB1-A3F6-4C35-B44F-468F9425F3FA}" srcId="{459E422A-5A98-4ED9-91BF-2ABF2A460C36}" destId="{ED2C895C-6696-4B17-877A-B6B71DB7F1C2}" srcOrd="4" destOrd="0" parTransId="{550ED913-BED9-4E21-BCFD-2A62B1B66E1B}" sibTransId="{9D08C636-E89E-48A8-B783-1B0244B65C92}"/>
    <dgm:cxn modelId="{3BB6E6B4-7782-44F2-B984-76BEFBA87D2D}" type="presOf" srcId="{ED2C895C-6696-4B17-877A-B6B71DB7F1C2}" destId="{2985A937-CFAE-41A5-9728-C72A115BD388}" srcOrd="0" destOrd="0" presId="urn:microsoft.com/office/officeart/2018/5/layout/IconLeafLabelList"/>
    <dgm:cxn modelId="{1AE6E3B6-F278-46E0-AA6C-04EB3C1B4FA0}" type="presOf" srcId="{93B913A8-F2B6-4753-9D88-49B028DAED39}" destId="{CCBD3FA8-991E-44C4-8CC0-77DBE30D96F7}" srcOrd="0" destOrd="0" presId="urn:microsoft.com/office/officeart/2018/5/layout/IconLeafLabelList"/>
    <dgm:cxn modelId="{13378BF9-12EE-47A2-B2C3-1DB5BDB1AD68}" type="presOf" srcId="{88762649-1185-4AB6-962B-A007A10126CB}" destId="{E00E838E-925C-4AEC-9C77-EF7519F5B303}" srcOrd="0" destOrd="0" presId="urn:microsoft.com/office/officeart/2018/5/layout/IconLeafLabelList"/>
    <dgm:cxn modelId="{8CF6CA90-80DE-44E7-8140-A9F93AEF4D06}" type="presParOf" srcId="{4D5D9DE5-F82D-481D-A179-D5528695DBA7}" destId="{44170FC0-E262-457C-B484-CFA8B408C6F5}" srcOrd="0" destOrd="0" presId="urn:microsoft.com/office/officeart/2018/5/layout/IconLeafLabelList"/>
    <dgm:cxn modelId="{F5732A51-2F4B-49E8-B3C4-DB3F1149C515}" type="presParOf" srcId="{44170FC0-E262-457C-B484-CFA8B408C6F5}" destId="{7866636D-5081-45DC-BBF7-09C8035815DD}" srcOrd="0" destOrd="0" presId="urn:microsoft.com/office/officeart/2018/5/layout/IconLeafLabelList"/>
    <dgm:cxn modelId="{891A63CF-041E-4EBF-98F4-B061EB07D26D}" type="presParOf" srcId="{44170FC0-E262-457C-B484-CFA8B408C6F5}" destId="{1F2D148E-CE89-43D4-A9F7-0FD300716A8D}" srcOrd="1" destOrd="0" presId="urn:microsoft.com/office/officeart/2018/5/layout/IconLeafLabelList"/>
    <dgm:cxn modelId="{4FCDE43F-5C47-4329-9E49-67356DB26F70}" type="presParOf" srcId="{44170FC0-E262-457C-B484-CFA8B408C6F5}" destId="{EB850E61-F0B0-429C-B830-4ECF21298D57}" srcOrd="2" destOrd="0" presId="urn:microsoft.com/office/officeart/2018/5/layout/IconLeafLabelList"/>
    <dgm:cxn modelId="{1F76192A-A874-47AD-BA1B-FA0E3C30D73D}" type="presParOf" srcId="{44170FC0-E262-457C-B484-CFA8B408C6F5}" destId="{E00E838E-925C-4AEC-9C77-EF7519F5B303}" srcOrd="3" destOrd="0" presId="urn:microsoft.com/office/officeart/2018/5/layout/IconLeafLabelList"/>
    <dgm:cxn modelId="{AB5B7ACA-13F8-447C-9A9E-9ADD8AD47CC2}" type="presParOf" srcId="{4D5D9DE5-F82D-481D-A179-D5528695DBA7}" destId="{036D1397-87DB-4ACA-9107-34A34E363DFD}" srcOrd="1" destOrd="0" presId="urn:microsoft.com/office/officeart/2018/5/layout/IconLeafLabelList"/>
    <dgm:cxn modelId="{3F680F15-DE53-479F-AD12-F77B5BC249E6}" type="presParOf" srcId="{4D5D9DE5-F82D-481D-A179-D5528695DBA7}" destId="{96DB4437-B34F-41AB-9E37-FAE8B0AD00B9}" srcOrd="2" destOrd="0" presId="urn:microsoft.com/office/officeart/2018/5/layout/IconLeafLabelList"/>
    <dgm:cxn modelId="{98683064-CD4C-43C9-A942-F87AC5D73EC4}" type="presParOf" srcId="{96DB4437-B34F-41AB-9E37-FAE8B0AD00B9}" destId="{FC6826CA-E221-4D10-989E-58E01D3A3E92}" srcOrd="0" destOrd="0" presId="urn:microsoft.com/office/officeart/2018/5/layout/IconLeafLabelList"/>
    <dgm:cxn modelId="{EA896441-B9E3-48A3-9F31-958ECD897E18}" type="presParOf" srcId="{96DB4437-B34F-41AB-9E37-FAE8B0AD00B9}" destId="{D706C2C1-36F0-4F74-A93F-3EF9793765BC}" srcOrd="1" destOrd="0" presId="urn:microsoft.com/office/officeart/2018/5/layout/IconLeafLabelList"/>
    <dgm:cxn modelId="{406CD17C-199E-4442-A6AC-205B7CEDE10A}" type="presParOf" srcId="{96DB4437-B34F-41AB-9E37-FAE8B0AD00B9}" destId="{B7E381DA-D7FE-48D1-B49C-742D66E7B080}" srcOrd="2" destOrd="0" presId="urn:microsoft.com/office/officeart/2018/5/layout/IconLeafLabelList"/>
    <dgm:cxn modelId="{18800211-D6E1-4789-A4E3-AC9E76C62ADB}" type="presParOf" srcId="{96DB4437-B34F-41AB-9E37-FAE8B0AD00B9}" destId="{B84FDAA8-A86D-4742-8909-1C495200A0AC}" srcOrd="3" destOrd="0" presId="urn:microsoft.com/office/officeart/2018/5/layout/IconLeafLabelList"/>
    <dgm:cxn modelId="{3E6566F3-A2B5-4454-B492-FAD1C06940DF}" type="presParOf" srcId="{4D5D9DE5-F82D-481D-A179-D5528695DBA7}" destId="{C730A03B-DA24-448A-9607-526B43C5913F}" srcOrd="3" destOrd="0" presId="urn:microsoft.com/office/officeart/2018/5/layout/IconLeafLabelList"/>
    <dgm:cxn modelId="{76F03047-D83A-4E26-910E-A20C70125A75}" type="presParOf" srcId="{4D5D9DE5-F82D-481D-A179-D5528695DBA7}" destId="{C90FE0F1-D16B-4232-A052-E63D13CDC801}" srcOrd="4" destOrd="0" presId="urn:microsoft.com/office/officeart/2018/5/layout/IconLeafLabelList"/>
    <dgm:cxn modelId="{51D4A9F4-14E0-4E3D-BAE9-6AE81FA482E6}" type="presParOf" srcId="{C90FE0F1-D16B-4232-A052-E63D13CDC801}" destId="{3C0FEC06-8DCB-4692-8EF0-9F94A2BCAB0D}" srcOrd="0" destOrd="0" presId="urn:microsoft.com/office/officeart/2018/5/layout/IconLeafLabelList"/>
    <dgm:cxn modelId="{340B6703-8629-4A8F-8151-2C46B3F0A566}" type="presParOf" srcId="{C90FE0F1-D16B-4232-A052-E63D13CDC801}" destId="{9C953C5D-C36B-45EB-BD11-00D22112AF8C}" srcOrd="1" destOrd="0" presId="urn:microsoft.com/office/officeart/2018/5/layout/IconLeafLabelList"/>
    <dgm:cxn modelId="{94EE318E-DDAC-445C-AA52-6FAE34FAE065}" type="presParOf" srcId="{C90FE0F1-D16B-4232-A052-E63D13CDC801}" destId="{C8C82C9D-3935-467C-B7B1-0C55AE70A76C}" srcOrd="2" destOrd="0" presId="urn:microsoft.com/office/officeart/2018/5/layout/IconLeafLabelList"/>
    <dgm:cxn modelId="{28D3F637-33CE-4AD1-B068-491B3DF214F3}" type="presParOf" srcId="{C90FE0F1-D16B-4232-A052-E63D13CDC801}" destId="{CCBD3FA8-991E-44C4-8CC0-77DBE30D96F7}" srcOrd="3" destOrd="0" presId="urn:microsoft.com/office/officeart/2018/5/layout/IconLeafLabelList"/>
    <dgm:cxn modelId="{F9F40C85-0EFC-4C22-9028-A7CE910499F5}" type="presParOf" srcId="{4D5D9DE5-F82D-481D-A179-D5528695DBA7}" destId="{B07453AF-8BF9-4D1A-BF4C-B1CEF4E8A498}" srcOrd="5" destOrd="0" presId="urn:microsoft.com/office/officeart/2018/5/layout/IconLeafLabelList"/>
    <dgm:cxn modelId="{B6644EFA-B71C-42E3-8DE5-783DF0C841A6}" type="presParOf" srcId="{4D5D9DE5-F82D-481D-A179-D5528695DBA7}" destId="{15E55451-28F6-4F71-A041-0579C4A8B9F6}" srcOrd="6" destOrd="0" presId="urn:microsoft.com/office/officeart/2018/5/layout/IconLeafLabelList"/>
    <dgm:cxn modelId="{0A8EF01D-0487-49FB-AA72-801A98C0D9DA}" type="presParOf" srcId="{15E55451-28F6-4F71-A041-0579C4A8B9F6}" destId="{5B49B7CC-4BC9-4BBB-AA37-F65893C8448A}" srcOrd="0" destOrd="0" presId="urn:microsoft.com/office/officeart/2018/5/layout/IconLeafLabelList"/>
    <dgm:cxn modelId="{76EF9A45-B3D0-426E-8238-8C6EF7476BC9}" type="presParOf" srcId="{15E55451-28F6-4F71-A041-0579C4A8B9F6}" destId="{691EA288-1201-4EA4-93D7-F9CB93963044}" srcOrd="1" destOrd="0" presId="urn:microsoft.com/office/officeart/2018/5/layout/IconLeafLabelList"/>
    <dgm:cxn modelId="{1045E021-739A-4771-A591-5400D8FA0A5F}" type="presParOf" srcId="{15E55451-28F6-4F71-A041-0579C4A8B9F6}" destId="{665AC391-1A8D-4D3D-AECF-6196CDC403A7}" srcOrd="2" destOrd="0" presId="urn:microsoft.com/office/officeart/2018/5/layout/IconLeafLabelList"/>
    <dgm:cxn modelId="{153842CD-29C1-4093-A188-4009AE401C9B}" type="presParOf" srcId="{15E55451-28F6-4F71-A041-0579C4A8B9F6}" destId="{287EA2F3-0F1D-4BA7-B30D-B405D6FB0B29}" srcOrd="3" destOrd="0" presId="urn:microsoft.com/office/officeart/2018/5/layout/IconLeafLabelList"/>
    <dgm:cxn modelId="{56AC32B9-C6F7-4AF3-9E3F-D2DAFFD6CA8E}" type="presParOf" srcId="{4D5D9DE5-F82D-481D-A179-D5528695DBA7}" destId="{E3EB9749-8DC8-4272-8A52-756583A60744}" srcOrd="7" destOrd="0" presId="urn:microsoft.com/office/officeart/2018/5/layout/IconLeafLabelList"/>
    <dgm:cxn modelId="{218BE613-6941-4D96-A70F-862EE734B9E8}" type="presParOf" srcId="{4D5D9DE5-F82D-481D-A179-D5528695DBA7}" destId="{9E91F581-1B5E-45A5-B98A-8C59CD25EC10}" srcOrd="8" destOrd="0" presId="urn:microsoft.com/office/officeart/2018/5/layout/IconLeafLabelList"/>
    <dgm:cxn modelId="{9C910677-7C4D-48BE-9464-C8E0412DBF83}" type="presParOf" srcId="{9E91F581-1B5E-45A5-B98A-8C59CD25EC10}" destId="{4CB5C54E-204B-44A5-AD1E-1C628CB0CB86}" srcOrd="0" destOrd="0" presId="urn:microsoft.com/office/officeart/2018/5/layout/IconLeafLabelList"/>
    <dgm:cxn modelId="{5068FB62-79F9-4171-BDE9-33B309B7B3E2}" type="presParOf" srcId="{9E91F581-1B5E-45A5-B98A-8C59CD25EC10}" destId="{4FE16C06-8201-4844-A693-5936B44F03FC}" srcOrd="1" destOrd="0" presId="urn:microsoft.com/office/officeart/2018/5/layout/IconLeafLabelList"/>
    <dgm:cxn modelId="{59C57040-640F-4F18-AF58-B6310466CDDD}" type="presParOf" srcId="{9E91F581-1B5E-45A5-B98A-8C59CD25EC10}" destId="{315FC1D8-8277-4D61-95D4-DF461712BD3C}" srcOrd="2" destOrd="0" presId="urn:microsoft.com/office/officeart/2018/5/layout/IconLeafLabelList"/>
    <dgm:cxn modelId="{1B042975-AE0A-4C87-9004-D6AD06ED00A4}" type="presParOf" srcId="{9E91F581-1B5E-45A5-B98A-8C59CD25EC10}" destId="{2985A937-CFAE-41A5-9728-C72A115BD388}" srcOrd="3" destOrd="0" presId="urn:microsoft.com/office/officeart/2018/5/layout/IconLeafLabelList"/>
    <dgm:cxn modelId="{F01DC7E8-2195-49BC-831B-983CB39BB9CE}" type="presParOf" srcId="{4D5D9DE5-F82D-481D-A179-D5528695DBA7}" destId="{A82EE7E2-4330-4F53-AA5D-7B19D876DC5F}" srcOrd="9" destOrd="0" presId="urn:microsoft.com/office/officeart/2018/5/layout/IconLeafLabelList"/>
    <dgm:cxn modelId="{E8BB29E1-AC18-4189-8B1E-66B5969A2CA3}" type="presParOf" srcId="{4D5D9DE5-F82D-481D-A179-D5528695DBA7}" destId="{4572BAAA-8F55-4AD6-93D8-F035FCCD39BA}" srcOrd="10" destOrd="0" presId="urn:microsoft.com/office/officeart/2018/5/layout/IconLeafLabelList"/>
    <dgm:cxn modelId="{3C91CF7B-6AC9-40A7-918F-0056E4309548}" type="presParOf" srcId="{4572BAAA-8F55-4AD6-93D8-F035FCCD39BA}" destId="{01DE5177-2A24-465F-82C0-0B8A0E1224A9}" srcOrd="0" destOrd="0" presId="urn:microsoft.com/office/officeart/2018/5/layout/IconLeafLabelList"/>
    <dgm:cxn modelId="{F3E6B5B9-9015-423A-BFD1-15462B2DC1E9}" type="presParOf" srcId="{4572BAAA-8F55-4AD6-93D8-F035FCCD39BA}" destId="{19A4AF72-638A-4D2D-8503-0AC98C85975B}" srcOrd="1" destOrd="0" presId="urn:microsoft.com/office/officeart/2018/5/layout/IconLeafLabelList"/>
    <dgm:cxn modelId="{C79D95C7-D471-4EC6-ACC5-19A65F711ED3}" type="presParOf" srcId="{4572BAAA-8F55-4AD6-93D8-F035FCCD39BA}" destId="{E26F2080-A7F9-4907-A867-F0BD9ABD9B2C}" srcOrd="2" destOrd="0" presId="urn:microsoft.com/office/officeart/2018/5/layout/IconLeafLabelList"/>
    <dgm:cxn modelId="{D15D9C64-9561-4F26-8034-A7E6D4F24281}" type="presParOf" srcId="{4572BAAA-8F55-4AD6-93D8-F035FCCD39BA}" destId="{0DCB1CFB-33DC-4B5E-9C13-3F51E6D1A01C}"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6636D-5081-45DC-BBF7-09C8035815DD}">
      <dsp:nvSpPr>
        <dsp:cNvPr id="0" name=""/>
        <dsp:cNvSpPr/>
      </dsp:nvSpPr>
      <dsp:spPr>
        <a:xfrm>
          <a:off x="299054" y="1012028"/>
          <a:ext cx="932871" cy="93287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2D148E-CE89-43D4-A9F7-0FD300716A8D}">
      <dsp:nvSpPr>
        <dsp:cNvPr id="0" name=""/>
        <dsp:cNvSpPr/>
      </dsp:nvSpPr>
      <dsp:spPr>
        <a:xfrm>
          <a:off x="497863" y="1210836"/>
          <a:ext cx="535253" cy="535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0E838E-925C-4AEC-9C77-EF7519F5B303}">
      <dsp:nvSpPr>
        <dsp:cNvPr id="0" name=""/>
        <dsp:cNvSpPr/>
      </dsp:nvSpPr>
      <dsp:spPr>
        <a:xfrm>
          <a:off x="841"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Introduction </a:t>
          </a:r>
        </a:p>
      </dsp:txBody>
      <dsp:txXfrm>
        <a:off x="841" y="2235465"/>
        <a:ext cx="1529296" cy="611718"/>
      </dsp:txXfrm>
    </dsp:sp>
    <dsp:sp modelId="{FC6826CA-E221-4D10-989E-58E01D3A3E92}">
      <dsp:nvSpPr>
        <dsp:cNvPr id="0" name=""/>
        <dsp:cNvSpPr/>
      </dsp:nvSpPr>
      <dsp:spPr>
        <a:xfrm>
          <a:off x="2095978" y="1012028"/>
          <a:ext cx="932871" cy="93287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6C2C1-36F0-4F74-A93F-3EF9793765BC}">
      <dsp:nvSpPr>
        <dsp:cNvPr id="0" name=""/>
        <dsp:cNvSpPr/>
      </dsp:nvSpPr>
      <dsp:spPr>
        <a:xfrm>
          <a:off x="2294787" y="1210836"/>
          <a:ext cx="535253" cy="535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4FDAA8-A86D-4742-8909-1C495200A0AC}">
      <dsp:nvSpPr>
        <dsp:cNvPr id="0" name=""/>
        <dsp:cNvSpPr/>
      </dsp:nvSpPr>
      <dsp:spPr>
        <a:xfrm>
          <a:off x="1797765"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IN" sz="1500" kern="1200"/>
            <a:t>Experimental Setup </a:t>
          </a:r>
          <a:endParaRPr lang="en-US" sz="1500" kern="1200"/>
        </a:p>
      </dsp:txBody>
      <dsp:txXfrm>
        <a:off x="1797765" y="2235465"/>
        <a:ext cx="1529296" cy="611718"/>
      </dsp:txXfrm>
    </dsp:sp>
    <dsp:sp modelId="{3C0FEC06-8DCB-4692-8EF0-9F94A2BCAB0D}">
      <dsp:nvSpPr>
        <dsp:cNvPr id="0" name=""/>
        <dsp:cNvSpPr/>
      </dsp:nvSpPr>
      <dsp:spPr>
        <a:xfrm>
          <a:off x="3892902" y="1012028"/>
          <a:ext cx="932871" cy="93287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953C5D-C36B-45EB-BD11-00D22112AF8C}">
      <dsp:nvSpPr>
        <dsp:cNvPr id="0" name=""/>
        <dsp:cNvSpPr/>
      </dsp:nvSpPr>
      <dsp:spPr>
        <a:xfrm>
          <a:off x="4091711" y="1210836"/>
          <a:ext cx="535253" cy="535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BD3FA8-991E-44C4-8CC0-77DBE30D96F7}">
      <dsp:nvSpPr>
        <dsp:cNvPr id="0" name=""/>
        <dsp:cNvSpPr/>
      </dsp:nvSpPr>
      <dsp:spPr>
        <a:xfrm>
          <a:off x="3594689"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Data analysis </a:t>
          </a:r>
        </a:p>
      </dsp:txBody>
      <dsp:txXfrm>
        <a:off x="3594689" y="2235465"/>
        <a:ext cx="1529296" cy="611718"/>
      </dsp:txXfrm>
    </dsp:sp>
    <dsp:sp modelId="{5B49B7CC-4BC9-4BBB-AA37-F65893C8448A}">
      <dsp:nvSpPr>
        <dsp:cNvPr id="0" name=""/>
        <dsp:cNvSpPr/>
      </dsp:nvSpPr>
      <dsp:spPr>
        <a:xfrm>
          <a:off x="5689826" y="1012028"/>
          <a:ext cx="932871" cy="93287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1EA288-1201-4EA4-93D7-F9CB93963044}">
      <dsp:nvSpPr>
        <dsp:cNvPr id="0" name=""/>
        <dsp:cNvSpPr/>
      </dsp:nvSpPr>
      <dsp:spPr>
        <a:xfrm>
          <a:off x="5888634" y="1210836"/>
          <a:ext cx="535253" cy="5352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7EA2F3-0F1D-4BA7-B30D-B405D6FB0B29}">
      <dsp:nvSpPr>
        <dsp:cNvPr id="0" name=""/>
        <dsp:cNvSpPr/>
      </dsp:nvSpPr>
      <dsp:spPr>
        <a:xfrm>
          <a:off x="5391613"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Data Pre-Processing</a:t>
          </a:r>
        </a:p>
      </dsp:txBody>
      <dsp:txXfrm>
        <a:off x="5391613" y="2235465"/>
        <a:ext cx="1529296" cy="611718"/>
      </dsp:txXfrm>
    </dsp:sp>
    <dsp:sp modelId="{4CB5C54E-204B-44A5-AD1E-1C628CB0CB86}">
      <dsp:nvSpPr>
        <dsp:cNvPr id="0" name=""/>
        <dsp:cNvSpPr/>
      </dsp:nvSpPr>
      <dsp:spPr>
        <a:xfrm>
          <a:off x="7486750" y="1012028"/>
          <a:ext cx="932871" cy="932871"/>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E16C06-8201-4844-A693-5936B44F03FC}">
      <dsp:nvSpPr>
        <dsp:cNvPr id="0" name=""/>
        <dsp:cNvSpPr/>
      </dsp:nvSpPr>
      <dsp:spPr>
        <a:xfrm>
          <a:off x="7685558" y="1210836"/>
          <a:ext cx="535253" cy="5352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85A937-CFAE-41A5-9728-C72A115BD388}">
      <dsp:nvSpPr>
        <dsp:cNvPr id="0" name=""/>
        <dsp:cNvSpPr/>
      </dsp:nvSpPr>
      <dsp:spPr>
        <a:xfrm>
          <a:off x="7188537"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Model Building</a:t>
          </a:r>
        </a:p>
      </dsp:txBody>
      <dsp:txXfrm>
        <a:off x="7188537" y="2235465"/>
        <a:ext cx="1529296" cy="611718"/>
      </dsp:txXfrm>
    </dsp:sp>
    <dsp:sp modelId="{01DE5177-2A24-465F-82C0-0B8A0E1224A9}">
      <dsp:nvSpPr>
        <dsp:cNvPr id="0" name=""/>
        <dsp:cNvSpPr/>
      </dsp:nvSpPr>
      <dsp:spPr>
        <a:xfrm>
          <a:off x="9283674" y="1012028"/>
          <a:ext cx="932871" cy="93287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A4AF72-638A-4D2D-8503-0AC98C85975B}">
      <dsp:nvSpPr>
        <dsp:cNvPr id="0" name=""/>
        <dsp:cNvSpPr/>
      </dsp:nvSpPr>
      <dsp:spPr>
        <a:xfrm>
          <a:off x="9482482" y="1210836"/>
          <a:ext cx="535253" cy="53525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CB1CFB-33DC-4B5E-9C13-3F51E6D1A01C}">
      <dsp:nvSpPr>
        <dsp:cNvPr id="0" name=""/>
        <dsp:cNvSpPr/>
      </dsp:nvSpPr>
      <dsp:spPr>
        <a:xfrm>
          <a:off x="8985461" y="2235465"/>
          <a:ext cx="1529296" cy="611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Conclusion</a:t>
          </a:r>
        </a:p>
      </dsp:txBody>
      <dsp:txXfrm>
        <a:off x="8985461" y="2235465"/>
        <a:ext cx="1529296" cy="611718"/>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4/23/2022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dirty="0"/>
              <a:t>9/3/20XX</a:t>
            </a: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en-US" dirty="0"/>
              <a:t>Presentation Title</a:t>
            </a: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dirty="0">
                <a:solidFill>
                  <a:prstClr val="black">
                    <a:tint val="75000"/>
                  </a:prstClr>
                </a:solidFill>
              </a:rPr>
              <a:t>9/3/20XX</a:t>
            </a: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en-US" dirty="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dirty="0">
                <a:solidFill>
                  <a:prstClr val="black">
                    <a:tint val="75000"/>
                  </a:prstClr>
                </a:solidFill>
              </a:rPr>
              <a:t>9/3/20XX</a:t>
            </a: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en-US" dirty="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a:lstStyle/>
          <a:p>
            <a:r>
              <a:rPr lang="en-US" dirty="0">
                <a:latin typeface="Algerian" panose="04020705040A02060702" pitchFamily="82" charset="0"/>
              </a:rPr>
              <a:t>Prediction of House Price</a:t>
            </a:r>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a:lstStyle/>
          <a:p>
            <a:r>
              <a:rPr lang="en-US" dirty="0">
                <a:solidFill>
                  <a:srgbClr val="FFFFFF"/>
                </a:solidFill>
                <a:latin typeface="Algerian" panose="04020705040A02060702" pitchFamily="82" charset="0"/>
              </a:rPr>
              <a:t>Chaganti Sai Mahathi</a:t>
            </a:r>
          </a:p>
          <a:p>
            <a:endParaRPr lang="en-US" dirty="0"/>
          </a:p>
        </p:txBody>
      </p:sp>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Arc 13">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36E49C-11A0-4C95-8A6E-FC7E9C57C105}"/>
              </a:ext>
            </a:extLst>
          </p:cNvPr>
          <p:cNvSpPr>
            <a:spLocks noGrp="1"/>
          </p:cNvSpPr>
          <p:nvPr>
            <p:ph type="title"/>
          </p:nvPr>
        </p:nvSpPr>
        <p:spPr>
          <a:xfrm>
            <a:off x="838200" y="365125"/>
            <a:ext cx="10515600" cy="1325563"/>
          </a:xfrm>
        </p:spPr>
        <p:txBody>
          <a:bodyPr>
            <a:normAutofit/>
          </a:bodyPr>
          <a:lstStyle/>
          <a:p>
            <a:r>
              <a:rPr lang="en-US" dirty="0">
                <a:solidFill>
                  <a:schemeClr val="tx1"/>
                </a:solidFill>
                <a:latin typeface="Comic Sans MS" panose="030F0702030302020204" pitchFamily="66" charset="0"/>
              </a:rPr>
              <a:t>Agenda</a:t>
            </a:r>
            <a:endParaRPr lang="en-US" dirty="0">
              <a:latin typeface="Comic Sans MS" panose="030F0702030302020204" pitchFamily="66" charset="0"/>
            </a:endParaRPr>
          </a:p>
        </p:txBody>
      </p:sp>
      <p:sp>
        <p:nvSpPr>
          <p:cNvPr id="4" name="Date Placeholder 3">
            <a:extLst>
              <a:ext uri="{FF2B5EF4-FFF2-40B4-BE49-F238E27FC236}">
                <a16:creationId xmlns:a16="http://schemas.microsoft.com/office/drawing/2014/main" id="{78C8B647-084C-492D-A242-148BEA5B6823}"/>
              </a:ext>
            </a:extLst>
          </p:cNvPr>
          <p:cNvSpPr>
            <a:spLocks noGrp="1"/>
          </p:cNvSpPr>
          <p:nvPr>
            <p:ph type="dt" sz="half" idx="10"/>
          </p:nvPr>
        </p:nvSpPr>
        <p:spPr>
          <a:xfrm>
            <a:off x="8382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Calibri" panose="020F0502020204030204"/>
                <a:ea typeface="+mn-ea"/>
                <a:cs typeface="+mn-cs"/>
              </a:rPr>
              <a:t>9/3/20XX</a:t>
            </a:r>
          </a:p>
        </p:txBody>
      </p:sp>
      <p:sp>
        <p:nvSpPr>
          <p:cNvPr id="5" name="Footer Placeholder 4">
            <a:extLst>
              <a:ext uri="{FF2B5EF4-FFF2-40B4-BE49-F238E27FC236}">
                <a16:creationId xmlns:a16="http://schemas.microsoft.com/office/drawing/2014/main" id="{A4A2B84E-2163-44C1-99D0-6F162AEA82E9}"/>
              </a:ext>
            </a:extLst>
          </p:cNvPr>
          <p:cNvSpPr>
            <a:spLocks noGrp="1"/>
          </p:cNvSpPr>
          <p:nvPr>
            <p:ph type="ftr" sz="quarter" idx="11"/>
          </p:nvPr>
        </p:nvSpPr>
        <p:spPr>
          <a:xfrm>
            <a:off x="4038600" y="6356350"/>
            <a:ext cx="41148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Calibri" panose="020F0502020204030204"/>
                <a:ea typeface="+mn-ea"/>
                <a:cs typeface="+mn-cs"/>
              </a:rPr>
              <a:t>Presentation Title</a:t>
            </a:r>
          </a:p>
        </p:txBody>
      </p:sp>
      <p:sp>
        <p:nvSpPr>
          <p:cNvPr id="6" name="Slide Number Placeholder 5">
            <a:extLst>
              <a:ext uri="{FF2B5EF4-FFF2-40B4-BE49-F238E27FC236}">
                <a16:creationId xmlns:a16="http://schemas.microsoft.com/office/drawing/2014/main" id="{88AB1A36-2D6E-4392-AAA4-996FFE03208D}"/>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D76B855D-E9CC-4FF8-AD85-6CDC7B89A0DE}" type="slidenum">
              <a:rPr kumimoji="0" lang="en-US"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2</a:t>
            </a:fld>
            <a:endParaRPr kumimoji="0" lang="en-US"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8" name="Content Placeholder 2">
            <a:extLst>
              <a:ext uri="{FF2B5EF4-FFF2-40B4-BE49-F238E27FC236}">
                <a16:creationId xmlns:a16="http://schemas.microsoft.com/office/drawing/2014/main" id="{DB80DAFB-7E70-04AA-7B58-E4F7DD3A7FC1}"/>
              </a:ext>
            </a:extLst>
          </p:cNvPr>
          <p:cNvGraphicFramePr>
            <a:graphicFrameLocks noGrp="1"/>
          </p:cNvGraphicFramePr>
          <p:nvPr>
            <p:ph idx="1"/>
            <p:extLst>
              <p:ext uri="{D42A27DB-BD31-4B8C-83A1-F6EECF244321}">
                <p14:modId xmlns:p14="http://schemas.microsoft.com/office/powerpoint/2010/main" val="684203731"/>
              </p:ext>
            </p:extLst>
          </p:nvPr>
        </p:nvGraphicFramePr>
        <p:xfrm>
          <a:off x="838200" y="1825625"/>
          <a:ext cx="10515600" cy="3859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16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a:xfrm>
            <a:off x="198782" y="365123"/>
            <a:ext cx="6147154" cy="1052859"/>
          </a:xfrm>
        </p:spPr>
        <p:txBody>
          <a:bodyPr>
            <a:normAutofit/>
          </a:bodyPr>
          <a:lstStyle/>
          <a:p>
            <a:r>
              <a:rPr lang="en-US" dirty="0">
                <a:latin typeface="Bauhaus 93" panose="04030905020B02020C02" pitchFamily="82" charset="0"/>
              </a:rPr>
              <a:t>Introduction:</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a:xfrm>
            <a:off x="198782" y="1417982"/>
            <a:ext cx="7275444" cy="5303493"/>
          </a:xfrm>
        </p:spPr>
        <p:txBody>
          <a:bodyPr>
            <a:normAutofit/>
          </a:bodyPr>
          <a:lstStyle/>
          <a:p>
            <a:r>
              <a:rPr lang="en-US" dirty="0">
                <a:latin typeface="Comic Sans MS" panose="030F0702030302020204" pitchFamily="66" charset="0"/>
              </a:rPr>
              <a:t>1:</a:t>
            </a:r>
            <a:r>
              <a:rPr lang="en-IN" sz="1800" dirty="0">
                <a:effectLst/>
                <a:latin typeface="Comic Sans MS" panose="030F0702030302020204" pitchFamily="66" charset="0"/>
                <a:ea typeface="Calibri" panose="020F0502020204030204" pitchFamily="34" charset="0"/>
                <a:cs typeface="Times New Roman" panose="02020603050405020304" pitchFamily="18" charset="0"/>
              </a:rPr>
              <a:t>Buying a house is commonly the most important financial transaction for the average person. A housing bubble cannot exist if individuals are making rational decisions.</a:t>
            </a:r>
            <a:r>
              <a:rPr lang="en-US" sz="1400" dirty="0"/>
              <a:t> </a:t>
            </a:r>
            <a:r>
              <a:rPr lang="en-US" sz="1800" dirty="0">
                <a:latin typeface="Comic Sans MS" panose="030F0702030302020204" pitchFamily="66" charset="0"/>
              </a:rPr>
              <a:t>The US-based housing company named Surprise Housing is looking at prospective properties to buy houses to enter the market</a:t>
            </a:r>
            <a:endParaRPr lang="en-IN" sz="1800" dirty="0">
              <a:effectLst/>
              <a:latin typeface="Comic Sans MS" panose="030F0702030302020204" pitchFamily="66" charset="0"/>
              <a:ea typeface="Calibri" panose="020F0502020204030204" pitchFamily="34" charset="0"/>
              <a:cs typeface="Times New Roman" panose="02020603050405020304" pitchFamily="18" charset="0"/>
            </a:endParaRPr>
          </a:p>
          <a:p>
            <a:r>
              <a:rPr lang="en-IN" sz="1800" dirty="0">
                <a:latin typeface="Comic Sans MS" panose="030F0702030302020204" pitchFamily="66" charset="0"/>
                <a:ea typeface="Calibri" panose="020F0502020204030204" pitchFamily="34" charset="0"/>
                <a:cs typeface="Times New Roman" panose="02020603050405020304" pitchFamily="18" charset="0"/>
              </a:rPr>
              <a:t>2:</a:t>
            </a:r>
            <a:r>
              <a:rPr lang="en-US" sz="1800" dirty="0">
                <a:effectLst/>
                <a:latin typeface="Comic Sans MS" panose="030F0702030302020204" pitchFamily="66" charset="0"/>
                <a:ea typeface="Calibri" panose="020F0502020204030204" pitchFamily="34" charset="0"/>
                <a:cs typeface="Times New Roman" panose="02020603050405020304" pitchFamily="18" charset="0"/>
              </a:rPr>
              <a:t>The main object of this project is to model the price of houses with the available independent variables. This model will then be used by the management to understand how exactly the prices vary with the variables. They can accordingly manipulate the strategy of the firm and concentrate on areas that will yield high returns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omic Sans MS" panose="030F0702030302020204" pitchFamily="66" charset="0"/>
              <a:ea typeface="Calibri" panose="020F0502020204030204" pitchFamily="34" charset="0"/>
              <a:cs typeface="Times New Roman" panose="02020603050405020304" pitchFamily="18" charset="0"/>
            </a:endParaRPr>
          </a:p>
          <a:p>
            <a:r>
              <a:rPr lang="en-IN" sz="1800" dirty="0">
                <a:latin typeface="Comic Sans MS" panose="030F0702030302020204" pitchFamily="66" charset="0"/>
                <a:ea typeface="Calibri" panose="020F0502020204030204" pitchFamily="34" charset="0"/>
                <a:cs typeface="Times New Roman" panose="02020603050405020304" pitchFamily="18" charset="0"/>
              </a:rPr>
              <a:t>3:</a:t>
            </a:r>
            <a:r>
              <a:rPr lang="en-IN" sz="1800" dirty="0">
                <a:effectLst/>
                <a:latin typeface="Comic Sans MS" panose="030F0702030302020204" pitchFamily="66" charset="0"/>
                <a:ea typeface="Calibri" panose="020F0502020204030204" pitchFamily="34" charset="0"/>
                <a:cs typeface="Times New Roman" panose="02020603050405020304" pitchFamily="18" charset="0"/>
              </a:rPr>
              <a:t>The machine learning models used to predict the price are ‘Linear  Regression’ &amp; ‘Lasso regularisation’, Ensemble approaches such as ‘Random Forest Regressor’, ‘Decision tree regressor’ and ‘KNN Regression’….and so on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latin typeface="Franklin Gothic Demi" panose="020B0703020102020204" pitchFamily="34" charset="0"/>
            </a:endParaRPr>
          </a:p>
        </p:txBody>
      </p:sp>
      <p:sp>
        <p:nvSpPr>
          <p:cNvPr id="14" name="Date Placeholder 13">
            <a:extLst>
              <a:ext uri="{FF2B5EF4-FFF2-40B4-BE49-F238E27FC236}">
                <a16:creationId xmlns:a16="http://schemas.microsoft.com/office/drawing/2014/main" id="{A01CAB10-68AF-4904-BD59-D332B297A10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prstClr val="black">
                    <a:tint val="75000"/>
                  </a:prstClr>
                </a:solidFill>
                <a:latin typeface="Calibri" panose="020F0502020204030204"/>
              </a:rPr>
              <a:t>23/04/2022</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Presentation Title</a:t>
            </a: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a:xfrm>
            <a:off x="8068917" y="635634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3B04927F-E675-4BBC-845D-C6A2455CEE2E}"/>
              </a:ext>
            </a:extLst>
          </p:cNvPr>
          <p:cNvPicPr>
            <a:picLocks noChangeAspect="1"/>
          </p:cNvPicPr>
          <p:nvPr/>
        </p:nvPicPr>
        <p:blipFill>
          <a:blip r:embed="rId2"/>
          <a:stretch>
            <a:fillRect/>
          </a:stretch>
        </p:blipFill>
        <p:spPr>
          <a:xfrm>
            <a:off x="8479016" y="2219946"/>
            <a:ext cx="2147156" cy="1872973"/>
          </a:xfrm>
          <a:prstGeom prst="rect">
            <a:avLst/>
          </a:prstGeom>
        </p:spPr>
      </p:pic>
      <p:pic>
        <p:nvPicPr>
          <p:cNvPr id="7" name="Picture 6">
            <a:extLst>
              <a:ext uri="{FF2B5EF4-FFF2-40B4-BE49-F238E27FC236}">
                <a16:creationId xmlns:a16="http://schemas.microsoft.com/office/drawing/2014/main" id="{4CD1E93D-F7D1-43F7-9DEF-80461F50A720}"/>
              </a:ext>
            </a:extLst>
          </p:cNvPr>
          <p:cNvPicPr>
            <a:picLocks noChangeAspect="1"/>
          </p:cNvPicPr>
          <p:nvPr/>
        </p:nvPicPr>
        <p:blipFill>
          <a:blip r:embed="rId3"/>
          <a:stretch>
            <a:fillRect/>
          </a:stretch>
        </p:blipFill>
        <p:spPr>
          <a:xfrm>
            <a:off x="7474226" y="167723"/>
            <a:ext cx="2676525" cy="1562100"/>
          </a:xfrm>
          <a:prstGeom prst="rect">
            <a:avLst/>
          </a:prstGeom>
        </p:spPr>
      </p:pic>
    </p:spTree>
    <p:extLst>
      <p:ext uri="{BB962C8B-B14F-4D97-AF65-F5344CB8AC3E}">
        <p14:creationId xmlns:p14="http://schemas.microsoft.com/office/powerpoint/2010/main" val="100219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3B8879ED-85E1-499F-9C75-32B48E68AEB9}"/>
              </a:ext>
            </a:extLst>
          </p:cNvPr>
          <p:cNvSpPr>
            <a:spLocks noGrp="1"/>
          </p:cNvSpPr>
          <p:nvPr>
            <p:ph type="title"/>
          </p:nvPr>
        </p:nvSpPr>
        <p:spPr>
          <a:xfrm>
            <a:off x="5894962" y="479493"/>
            <a:ext cx="5458838" cy="1325563"/>
          </a:xfrm>
        </p:spPr>
        <p:txBody>
          <a:bodyPr>
            <a:normAutofit/>
          </a:bodyPr>
          <a:lstStyle/>
          <a:p>
            <a:r>
              <a:rPr lang="en-IN" sz="4100" dirty="0">
                <a:latin typeface="Comic Sans MS" panose="030F0702030302020204" pitchFamily="66" charset="0"/>
              </a:rPr>
              <a:t>Experimental Setup:</a:t>
            </a:r>
            <a:br>
              <a:rPr lang="en-IN" sz="4100" dirty="0">
                <a:latin typeface="Comic Sans MS" panose="030F0702030302020204" pitchFamily="66" charset="0"/>
              </a:rPr>
            </a:br>
            <a:endParaRPr lang="en-IN" sz="4100" dirty="0">
              <a:latin typeface="Comic Sans MS" panose="030F0702030302020204" pitchFamily="66" charset="0"/>
            </a:endParaRPr>
          </a:p>
        </p:txBody>
      </p:sp>
      <p:sp>
        <p:nvSpPr>
          <p:cNvPr id="19" name="Freeform: Shape 1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Graphic 11" descr="Computer">
            <a:extLst>
              <a:ext uri="{FF2B5EF4-FFF2-40B4-BE49-F238E27FC236}">
                <a16:creationId xmlns:a16="http://schemas.microsoft.com/office/drawing/2014/main" id="{6D106BFE-1B01-81A9-B138-23E4A3CAEA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5" name="Content Placeholder 7">
            <a:extLst>
              <a:ext uri="{FF2B5EF4-FFF2-40B4-BE49-F238E27FC236}">
                <a16:creationId xmlns:a16="http://schemas.microsoft.com/office/drawing/2014/main" id="{E308FBFF-EC7F-4895-AFF5-7BFD0A4AE280}"/>
              </a:ext>
            </a:extLst>
          </p:cNvPr>
          <p:cNvSpPr>
            <a:spLocks noGrp="1"/>
          </p:cNvSpPr>
          <p:nvPr>
            <p:ph idx="1"/>
          </p:nvPr>
        </p:nvSpPr>
        <p:spPr>
          <a:xfrm>
            <a:off x="5894962" y="1984443"/>
            <a:ext cx="5458838" cy="4192520"/>
          </a:xfrm>
        </p:spPr>
        <p:txBody>
          <a:bodyPr>
            <a:normAutofit/>
          </a:bodyPr>
          <a:lstStyle/>
          <a:p>
            <a:pPr>
              <a:buFont typeface="Wingdings" panose="05000000000000000000" pitchFamily="2" charset="2"/>
              <a:buChar char="v"/>
            </a:pPr>
            <a:r>
              <a:rPr lang="en-US" sz="1900" dirty="0">
                <a:latin typeface="Comic Sans MS" panose="030F0702030302020204" pitchFamily="66" charset="0"/>
              </a:rPr>
              <a:t>Hardware requirements:-</a:t>
            </a:r>
          </a:p>
          <a:p>
            <a:endParaRPr lang="en-US" sz="1900" dirty="0">
              <a:latin typeface="Comic Sans MS" panose="030F0702030302020204" pitchFamily="66" charset="0"/>
            </a:endParaRPr>
          </a:p>
          <a:p>
            <a:pPr marL="0" indent="0">
              <a:buNone/>
            </a:pPr>
            <a:r>
              <a:rPr lang="en-US" sz="1900" dirty="0">
                <a:latin typeface="Comic Sans MS" panose="030F0702030302020204" pitchFamily="66" charset="0"/>
              </a:rPr>
              <a:t>              Processor — core i5 and above</a:t>
            </a:r>
          </a:p>
          <a:p>
            <a:pPr marL="0" indent="0">
              <a:buNone/>
            </a:pPr>
            <a:r>
              <a:rPr lang="en-US" sz="1900" dirty="0">
                <a:latin typeface="Comic Sans MS" panose="030F0702030302020204" pitchFamily="66" charset="0"/>
              </a:rPr>
              <a:t>              RAM — 8 GB or above</a:t>
            </a:r>
          </a:p>
          <a:p>
            <a:pPr marL="0" indent="0">
              <a:buNone/>
            </a:pPr>
            <a:r>
              <a:rPr lang="en-US" sz="1900" dirty="0">
                <a:latin typeface="Comic Sans MS" panose="030F0702030302020204" pitchFamily="66" charset="0"/>
              </a:rPr>
              <a:t>             SSD— 250 GB or above</a:t>
            </a:r>
          </a:p>
          <a:p>
            <a:endParaRPr lang="en-US" sz="1900" dirty="0">
              <a:latin typeface="Comic Sans MS" panose="030F0702030302020204" pitchFamily="66" charset="0"/>
            </a:endParaRPr>
          </a:p>
          <a:p>
            <a:endParaRPr lang="en-US" sz="1900" dirty="0">
              <a:latin typeface="Comic Sans MS" panose="030F0702030302020204" pitchFamily="66" charset="0"/>
            </a:endParaRPr>
          </a:p>
          <a:p>
            <a:pPr>
              <a:buFont typeface="Wingdings" panose="05000000000000000000" pitchFamily="2" charset="2"/>
              <a:buChar char="v"/>
            </a:pPr>
            <a:r>
              <a:rPr lang="en-US" sz="1900" dirty="0">
                <a:latin typeface="Comic Sans MS" panose="030F0702030302020204" pitchFamily="66" charset="0"/>
              </a:rPr>
              <a:t>Software requirements:-</a:t>
            </a:r>
          </a:p>
          <a:p>
            <a:endParaRPr lang="en-US" sz="1900" dirty="0">
              <a:latin typeface="Comic Sans MS" panose="030F0702030302020204" pitchFamily="66" charset="0"/>
            </a:endParaRPr>
          </a:p>
          <a:p>
            <a:pPr marL="0" indent="0">
              <a:buNone/>
            </a:pPr>
            <a:r>
              <a:rPr lang="en-US" sz="1900" dirty="0">
                <a:latin typeface="Comic Sans MS" panose="030F0702030302020204" pitchFamily="66" charset="0"/>
              </a:rPr>
              <a:t>          Anaconda and Jupyter Notebook with python packages                               </a:t>
            </a:r>
            <a:endParaRPr lang="en-IN" sz="1900" dirty="0"/>
          </a:p>
        </p:txBody>
      </p:sp>
      <p:sp>
        <p:nvSpPr>
          <p:cNvPr id="2" name="Date Placeholder 1">
            <a:extLst>
              <a:ext uri="{FF2B5EF4-FFF2-40B4-BE49-F238E27FC236}">
                <a16:creationId xmlns:a16="http://schemas.microsoft.com/office/drawing/2014/main" id="{1F1BBD20-1C86-4A45-9C8A-0EE8DE9174E9}"/>
              </a:ext>
            </a:extLst>
          </p:cNvPr>
          <p:cNvSpPr>
            <a:spLocks noGrp="1"/>
          </p:cNvSpPr>
          <p:nvPr>
            <p:ph type="dt" sz="half" idx="10"/>
          </p:nvPr>
        </p:nvSpPr>
        <p:spPr>
          <a:xfrm>
            <a:off x="838200" y="6356350"/>
            <a:ext cx="2743200" cy="365125"/>
          </a:xfrm>
        </p:spPr>
        <p:txBody>
          <a:bodyPr>
            <a:normAutofit/>
          </a:bodyPr>
          <a:lstStyle/>
          <a:p>
            <a:pPr>
              <a:spcAft>
                <a:spcPts val="600"/>
              </a:spcAft>
              <a:defRPr/>
            </a:pPr>
            <a:r>
              <a:rPr lang="en-US">
                <a:solidFill>
                  <a:prstClr val="black">
                    <a:tint val="75000"/>
                  </a:prstClr>
                </a:solidFill>
              </a:rPr>
              <a:t>9/3/20XX</a:t>
            </a:r>
          </a:p>
        </p:txBody>
      </p:sp>
      <p:sp>
        <p:nvSpPr>
          <p:cNvPr id="3" name="Footer Placeholder 2">
            <a:extLst>
              <a:ext uri="{FF2B5EF4-FFF2-40B4-BE49-F238E27FC236}">
                <a16:creationId xmlns:a16="http://schemas.microsoft.com/office/drawing/2014/main" id="{6BA34D69-D886-4509-B115-3FF2BD0075B0}"/>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2806B3D2-3634-48D3-BDAA-95253E7137C5}"/>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4</a:t>
            </a:fld>
            <a:endParaRPr lang="en-US">
              <a:solidFill>
                <a:prstClr val="black">
                  <a:tint val="75000"/>
                </a:prstClr>
              </a:solidFill>
            </a:endParaRPr>
          </a:p>
        </p:txBody>
      </p:sp>
    </p:spTree>
    <p:extLst>
      <p:ext uri="{BB962C8B-B14F-4D97-AF65-F5344CB8AC3E}">
        <p14:creationId xmlns:p14="http://schemas.microsoft.com/office/powerpoint/2010/main" val="3120749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EB8CC-E887-4C39-A032-E3471EDC043E}"/>
              </a:ext>
            </a:extLst>
          </p:cNvPr>
          <p:cNvSpPr>
            <a:spLocks noGrp="1"/>
          </p:cNvSpPr>
          <p:nvPr>
            <p:ph type="title"/>
          </p:nvPr>
        </p:nvSpPr>
        <p:spPr>
          <a:xfrm>
            <a:off x="795661" y="343073"/>
            <a:ext cx="10515600" cy="1325563"/>
          </a:xfrm>
        </p:spPr>
        <p:txBody>
          <a:bodyPr/>
          <a:lstStyle/>
          <a:p>
            <a:r>
              <a:rPr lang="en-US" dirty="0">
                <a:latin typeface="Comic Sans MS" panose="030F0702030302020204" pitchFamily="66" charset="0"/>
              </a:rPr>
              <a:t>Data analysis </a:t>
            </a:r>
          </a:p>
        </p:txBody>
      </p:sp>
      <p:sp>
        <p:nvSpPr>
          <p:cNvPr id="3" name="Text Placeholder 2">
            <a:extLst>
              <a:ext uri="{FF2B5EF4-FFF2-40B4-BE49-F238E27FC236}">
                <a16:creationId xmlns:a16="http://schemas.microsoft.com/office/drawing/2014/main" id="{A4B28E79-36F1-4487-B6B6-7A33F5C3C0B2}"/>
              </a:ext>
            </a:extLst>
          </p:cNvPr>
          <p:cNvSpPr>
            <a:spLocks noGrp="1"/>
          </p:cNvSpPr>
          <p:nvPr>
            <p:ph type="body" idx="1"/>
          </p:nvPr>
        </p:nvSpPr>
        <p:spPr>
          <a:xfrm>
            <a:off x="835152" y="1690689"/>
            <a:ext cx="3296476" cy="389902"/>
          </a:xfrm>
        </p:spPr>
        <p:txBody>
          <a:bodyPr>
            <a:normAutofit lnSpcReduction="10000"/>
          </a:bodyPr>
          <a:lstStyle/>
          <a:p>
            <a:r>
              <a:rPr lang="en-US" dirty="0">
                <a:latin typeface="Comic Sans MS" panose="030F0702030302020204" pitchFamily="66" charset="0"/>
              </a:rPr>
              <a:t>Data Description</a:t>
            </a:r>
          </a:p>
        </p:txBody>
      </p:sp>
      <p:sp>
        <p:nvSpPr>
          <p:cNvPr id="4" name="Content Placeholder 3">
            <a:extLst>
              <a:ext uri="{FF2B5EF4-FFF2-40B4-BE49-F238E27FC236}">
                <a16:creationId xmlns:a16="http://schemas.microsoft.com/office/drawing/2014/main" id="{245DDB48-166A-4E16-B9DF-C5C6570A1BAD}"/>
              </a:ext>
            </a:extLst>
          </p:cNvPr>
          <p:cNvSpPr>
            <a:spLocks noGrp="1"/>
          </p:cNvSpPr>
          <p:nvPr>
            <p:ph sz="half" idx="2"/>
          </p:nvPr>
        </p:nvSpPr>
        <p:spPr>
          <a:xfrm>
            <a:off x="357809" y="2080592"/>
            <a:ext cx="3773819" cy="4275758"/>
          </a:xfrm>
        </p:spPr>
        <p:txBody>
          <a:bodyPr>
            <a:normAutofit fontScale="77500" lnSpcReduction="20000"/>
          </a:bodyPr>
          <a:lstStyle/>
          <a:p>
            <a:pPr marL="457200">
              <a:lnSpc>
                <a:spcPct val="107000"/>
              </a:lnSpc>
            </a:pPr>
            <a:r>
              <a:rPr lang="en-IN" sz="2400" dirty="0">
                <a:effectLst/>
                <a:latin typeface="Comic Sans MS" panose="030F0702030302020204" pitchFamily="66" charset="0"/>
                <a:ea typeface="Calibri" panose="020F0502020204030204" pitchFamily="34" charset="0"/>
                <a:cs typeface="Times New Roman" panose="02020603050405020304" pitchFamily="18" charset="0"/>
              </a:rPr>
              <a:t>Data contains 1460 entries each having 81 variables. </a:t>
            </a:r>
          </a:p>
          <a:p>
            <a:pPr marL="457200">
              <a:lnSpc>
                <a:spcPct val="107000"/>
              </a:lnSpc>
            </a:pPr>
            <a:r>
              <a:rPr lang="en-IN" sz="2400" dirty="0">
                <a:effectLst/>
                <a:latin typeface="Comic Sans MS" panose="030F0702030302020204" pitchFamily="66" charset="0"/>
                <a:ea typeface="Calibri" panose="020F0502020204030204" pitchFamily="34" charset="0"/>
                <a:cs typeface="Times New Roman" panose="02020603050405020304" pitchFamily="18" charset="0"/>
              </a:rPr>
              <a:t>Here there are 2 datasets provided one </a:t>
            </a:r>
            <a:r>
              <a:rPr lang="en-IN" sz="2600" dirty="0">
                <a:effectLst/>
                <a:latin typeface="Comic Sans MS" panose="030F0702030302020204" pitchFamily="66" charset="0"/>
                <a:ea typeface="Calibri" panose="020F0502020204030204" pitchFamily="34" charset="0"/>
                <a:cs typeface="Times New Roman" panose="02020603050405020304" pitchFamily="18" charset="0"/>
              </a:rPr>
              <a:t>consist</a:t>
            </a:r>
            <a:r>
              <a:rPr lang="en-IN" sz="2400" dirty="0">
                <a:effectLst/>
                <a:latin typeface="Comic Sans MS" panose="030F0702030302020204" pitchFamily="66" charset="0"/>
                <a:ea typeface="Calibri" panose="020F0502020204030204" pitchFamily="34" charset="0"/>
                <a:cs typeface="Times New Roman" panose="02020603050405020304" pitchFamily="18" charset="0"/>
              </a:rPr>
              <a:t> of 1168 rows and 81 columns which is training data set and other with 292 rows and 80 columns as testing data set .</a:t>
            </a:r>
          </a:p>
          <a:p>
            <a:pPr marL="457200">
              <a:lnSpc>
                <a:spcPct val="107000"/>
              </a:lnSpc>
              <a:spcAft>
                <a:spcPts val="800"/>
              </a:spcAft>
            </a:pPr>
            <a:r>
              <a:rPr lang="en-IN" sz="24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The Target variable is Sale Price which is to be predicted. Here, prediction is made by the price of a house with respect to feature variable conditions.</a:t>
            </a:r>
            <a:endParaRPr lang="en-IN" sz="2400" dirty="0">
              <a:effectLst/>
              <a:latin typeface="Comic Sans MS" panose="030F0702030302020204" pitchFamily="66" charset="0"/>
              <a:ea typeface="Calibri" panose="020F0502020204030204" pitchFamily="34" charset="0"/>
              <a:cs typeface="Times New Roman" panose="02020603050405020304" pitchFamily="18" charset="0"/>
            </a:endParaRPr>
          </a:p>
          <a:p>
            <a:endParaRPr lang="en-US" dirty="0"/>
          </a:p>
        </p:txBody>
      </p:sp>
      <p:sp>
        <p:nvSpPr>
          <p:cNvPr id="5" name="Text Placeholder 4">
            <a:extLst>
              <a:ext uri="{FF2B5EF4-FFF2-40B4-BE49-F238E27FC236}">
                <a16:creationId xmlns:a16="http://schemas.microsoft.com/office/drawing/2014/main" id="{7A4C5B2A-12FB-43E3-8389-C0A5E65E6D91}"/>
              </a:ext>
            </a:extLst>
          </p:cNvPr>
          <p:cNvSpPr>
            <a:spLocks noGrp="1"/>
          </p:cNvSpPr>
          <p:nvPr>
            <p:ph type="body" sz="quarter" idx="3"/>
          </p:nvPr>
        </p:nvSpPr>
        <p:spPr>
          <a:xfrm>
            <a:off x="4496594" y="1445419"/>
            <a:ext cx="3291840" cy="823912"/>
          </a:xfrm>
        </p:spPr>
        <p:txBody>
          <a:bodyPr>
            <a:normAutofit lnSpcReduction="10000"/>
          </a:bodyPr>
          <a:lstStyle/>
          <a:p>
            <a:r>
              <a:rPr lang="en-US" dirty="0">
                <a:latin typeface="Comic Sans MS" panose="030F0702030302020204" pitchFamily="66" charset="0"/>
              </a:rPr>
              <a:t>Removing null values from both the sets:</a:t>
            </a:r>
          </a:p>
        </p:txBody>
      </p:sp>
      <p:sp>
        <p:nvSpPr>
          <p:cNvPr id="6" name="Content Placeholder 5">
            <a:extLst>
              <a:ext uri="{FF2B5EF4-FFF2-40B4-BE49-F238E27FC236}">
                <a16:creationId xmlns:a16="http://schemas.microsoft.com/office/drawing/2014/main" id="{53C09F06-9236-4635-AFB4-5E7D384A6BAE}"/>
              </a:ext>
            </a:extLst>
          </p:cNvPr>
          <p:cNvSpPr>
            <a:spLocks noGrp="1"/>
          </p:cNvSpPr>
          <p:nvPr>
            <p:ph sz="quarter" idx="4"/>
          </p:nvPr>
        </p:nvSpPr>
        <p:spPr>
          <a:xfrm>
            <a:off x="4451668" y="2269331"/>
            <a:ext cx="3293300" cy="3826669"/>
          </a:xfrm>
        </p:spPr>
        <p:txBody>
          <a:bodyPr>
            <a:noAutofit/>
          </a:bodyPr>
          <a:lstStyle/>
          <a:p>
            <a:pPr>
              <a:lnSpc>
                <a:spcPct val="107000"/>
              </a:lnSpc>
              <a:spcAft>
                <a:spcPts val="800"/>
              </a:spcAft>
            </a:pPr>
            <a:r>
              <a:rPr lang="en-IN" sz="1800" dirty="0">
                <a:effectLst/>
                <a:latin typeface="Comic Sans MS" panose="030F0702030302020204" pitchFamily="66" charset="0"/>
                <a:ea typeface="Calibri" panose="020F0502020204030204" pitchFamily="34" charset="0"/>
                <a:cs typeface="Times New Roman" panose="02020603050405020304" pitchFamily="18" charset="0"/>
              </a:rPr>
              <a:t>Imputing numerical valued variables to remove null values present in both the test and train datasets using Iterative imputer.</a:t>
            </a:r>
          </a:p>
          <a:p>
            <a:r>
              <a:rPr lang="en-IN" sz="1800" dirty="0">
                <a:effectLst/>
                <a:latin typeface="Comic Sans MS" panose="030F0702030302020204" pitchFamily="66" charset="0"/>
                <a:ea typeface="Calibri" panose="020F0502020204030204" pitchFamily="34" charset="0"/>
              </a:rPr>
              <a:t>Filling all the other </a:t>
            </a:r>
            <a:r>
              <a:rPr lang="en-IN" sz="1700" dirty="0">
                <a:effectLst/>
                <a:latin typeface="Comic Sans MS" panose="030F0702030302020204" pitchFamily="66" charset="0"/>
                <a:ea typeface="Calibri" panose="020F0502020204030204" pitchFamily="34" charset="0"/>
              </a:rPr>
              <a:t>non-numeric</a:t>
            </a:r>
            <a:r>
              <a:rPr lang="en-IN" sz="1800" dirty="0">
                <a:effectLst/>
                <a:latin typeface="Comic Sans MS" panose="030F0702030302020204" pitchFamily="66" charset="0"/>
                <a:ea typeface="Calibri" panose="020F0502020204030204" pitchFamily="34" charset="0"/>
              </a:rPr>
              <a:t> variables null values using lambda function and ‘fillna’ method.</a:t>
            </a:r>
          </a:p>
          <a:p>
            <a:endParaRPr lang="en-US" sz="1800" dirty="0">
              <a:latin typeface="Comic Sans MS" panose="030F0702030302020204" pitchFamily="66" charset="0"/>
            </a:endParaRPr>
          </a:p>
        </p:txBody>
      </p:sp>
      <p:sp>
        <p:nvSpPr>
          <p:cNvPr id="7" name="Text Placeholder 6">
            <a:extLst>
              <a:ext uri="{FF2B5EF4-FFF2-40B4-BE49-F238E27FC236}">
                <a16:creationId xmlns:a16="http://schemas.microsoft.com/office/drawing/2014/main" id="{016D0387-7057-4207-9037-65B55A7B211B}"/>
              </a:ext>
            </a:extLst>
          </p:cNvPr>
          <p:cNvSpPr>
            <a:spLocks noGrp="1"/>
          </p:cNvSpPr>
          <p:nvPr>
            <p:ph type="body" sz="quarter" idx="13"/>
          </p:nvPr>
        </p:nvSpPr>
        <p:spPr>
          <a:xfrm>
            <a:off x="8060372" y="1514476"/>
            <a:ext cx="3291840" cy="823912"/>
          </a:xfrm>
        </p:spPr>
        <p:txBody>
          <a:bodyPr/>
          <a:lstStyle/>
          <a:p>
            <a:r>
              <a:rPr lang="en-IN" sz="1800" b="1" dirty="0">
                <a:effectLst/>
                <a:latin typeface="Times New Roman" panose="02020603050405020304" pitchFamily="18" charset="0"/>
                <a:ea typeface="Calibri" panose="020F0502020204030204" pitchFamily="34" charset="0"/>
              </a:rPr>
              <a:t> </a:t>
            </a:r>
            <a:r>
              <a:rPr lang="en-IN" b="1" dirty="0">
                <a:effectLst/>
                <a:latin typeface="Comic Sans MS" panose="030F0702030302020204" pitchFamily="66" charset="0"/>
                <a:ea typeface="Calibri" panose="020F0502020204030204" pitchFamily="34" charset="0"/>
              </a:rPr>
              <a:t>Data Visualisation and analysis</a:t>
            </a:r>
            <a:endParaRPr lang="en-US" dirty="0">
              <a:latin typeface="Comic Sans MS" panose="030F0702030302020204" pitchFamily="66" charset="0"/>
            </a:endParaRPr>
          </a:p>
        </p:txBody>
      </p:sp>
      <p:sp>
        <p:nvSpPr>
          <p:cNvPr id="8" name="Content Placeholder 7">
            <a:extLst>
              <a:ext uri="{FF2B5EF4-FFF2-40B4-BE49-F238E27FC236}">
                <a16:creationId xmlns:a16="http://schemas.microsoft.com/office/drawing/2014/main" id="{EE1302F8-9FA6-4CC4-AD07-E8137FCC99A5}"/>
              </a:ext>
            </a:extLst>
          </p:cNvPr>
          <p:cNvSpPr>
            <a:spLocks noGrp="1"/>
          </p:cNvSpPr>
          <p:nvPr>
            <p:ph sz="quarter" idx="14"/>
          </p:nvPr>
        </p:nvSpPr>
        <p:spPr/>
        <p:txBody>
          <a:bodyPr>
            <a:normAutofit lnSpcReduction="10000"/>
          </a:bodyPr>
          <a:lstStyle/>
          <a:p>
            <a:r>
              <a:rPr lang="en-US" sz="2000" dirty="0">
                <a:latin typeface="Comic Sans MS" panose="030F0702030302020204" pitchFamily="66" charset="0"/>
              </a:rPr>
              <a:t>The target variable Sale Price is shown in the dist. plot of seaborn to get the better visualization of the housing price.. </a:t>
            </a:r>
          </a:p>
          <a:p>
            <a:r>
              <a:rPr lang="en-US" sz="2000" dirty="0">
                <a:latin typeface="Comic Sans MS" panose="030F0702030302020204" pitchFamily="66" charset="0"/>
              </a:rPr>
              <a:t>For better understanding of the feature variables, we then plotted a scatter plot with respect to the sale price variable of trained data.</a:t>
            </a:r>
            <a:endParaRPr lang="en-US" dirty="0">
              <a:latin typeface="Comic Sans MS" panose="030F0702030302020204" pitchFamily="66" charset="0"/>
            </a:endParaRPr>
          </a:p>
        </p:txBody>
      </p:sp>
      <p:sp>
        <p:nvSpPr>
          <p:cNvPr id="9" name="Date Placeholder 8">
            <a:extLst>
              <a:ext uri="{FF2B5EF4-FFF2-40B4-BE49-F238E27FC236}">
                <a16:creationId xmlns:a16="http://schemas.microsoft.com/office/drawing/2014/main" id="{38435D0D-6D88-4851-8B63-E6A6A7BC865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9/3/20XX</a:t>
            </a:r>
          </a:p>
        </p:txBody>
      </p:sp>
      <p:sp>
        <p:nvSpPr>
          <p:cNvPr id="10" name="Footer Placeholder 9">
            <a:extLst>
              <a:ext uri="{FF2B5EF4-FFF2-40B4-BE49-F238E27FC236}">
                <a16:creationId xmlns:a16="http://schemas.microsoft.com/office/drawing/2014/main" id="{0355C492-B5A1-4AEA-87B3-88D8AB076D5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Presentation Title</a:t>
            </a:r>
          </a:p>
        </p:txBody>
      </p:sp>
      <p:sp>
        <p:nvSpPr>
          <p:cNvPr id="11" name="Slide Number Placeholder 10">
            <a:extLst>
              <a:ext uri="{FF2B5EF4-FFF2-40B4-BE49-F238E27FC236}">
                <a16:creationId xmlns:a16="http://schemas.microsoft.com/office/drawing/2014/main" id="{68ED6379-8C31-4483-A809-D0E84782F0C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3995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DD748-1C56-4161-97EE-143648A8D721}"/>
              </a:ext>
            </a:extLst>
          </p:cNvPr>
          <p:cNvSpPr>
            <a:spLocks noGrp="1"/>
          </p:cNvSpPr>
          <p:nvPr>
            <p:ph type="dt" sz="half" idx="10"/>
          </p:nvPr>
        </p:nvSpPr>
        <p:spPr/>
        <p:txBody>
          <a:body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1A8E8D65-EA43-427B-84C9-E443ADE14F74}"/>
              </a:ext>
            </a:extLst>
          </p:cNvPr>
          <p:cNvSpPr>
            <a:spLocks noGrp="1"/>
          </p:cNvSpPr>
          <p:nvPr>
            <p:ph type="ftr" sz="quarter" idx="11"/>
          </p:nvPr>
        </p:nvSpPr>
        <p:spPr/>
        <p:txBody>
          <a:bodyPr/>
          <a:lstStyle/>
          <a:p>
            <a:pPr>
              <a:defRPr/>
            </a:pPr>
            <a:r>
              <a:rPr lang="en-US">
                <a:solidFill>
                  <a:prstClr val="black">
                    <a:tint val="75000"/>
                  </a:prstClr>
                </a:solidFill>
              </a:rPr>
              <a:t>Presentation Title</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2E074DC6-5443-492A-AE7B-9C4D9FE1E220}"/>
              </a:ext>
            </a:extLst>
          </p:cNvPr>
          <p:cNvSpPr>
            <a:spLocks noGrp="1"/>
          </p:cNvSpPr>
          <p:nvPr>
            <p:ph type="sldNum" sz="quarter" idx="12"/>
          </p:nvPr>
        </p:nvSpPr>
        <p:spPr/>
        <p:txBody>
          <a:bodyPr/>
          <a:lstStyle/>
          <a:p>
            <a:pPr>
              <a:defRPr/>
            </a:pPr>
            <a:fld id="{D76B855D-E9CC-4FF8-AD85-6CDC7B89A0DE}" type="slidenum">
              <a:rPr lang="en-US" smtClean="0">
                <a:solidFill>
                  <a:prstClr val="black">
                    <a:tint val="75000"/>
                  </a:prstClr>
                </a:solidFill>
              </a:rPr>
              <a:pPr>
                <a:defRPr/>
              </a:pPr>
              <a:t>6</a:t>
            </a:fld>
            <a:endParaRPr lang="en-US" dirty="0">
              <a:solidFill>
                <a:prstClr val="black">
                  <a:tint val="75000"/>
                </a:prstClr>
              </a:solidFill>
            </a:endParaRPr>
          </a:p>
        </p:txBody>
      </p:sp>
      <p:pic>
        <p:nvPicPr>
          <p:cNvPr id="6" name="Picture 5">
            <a:extLst>
              <a:ext uri="{FF2B5EF4-FFF2-40B4-BE49-F238E27FC236}">
                <a16:creationId xmlns:a16="http://schemas.microsoft.com/office/drawing/2014/main" id="{BD136E46-BC64-4A49-9322-7A671562B26D}"/>
              </a:ext>
            </a:extLst>
          </p:cNvPr>
          <p:cNvPicPr>
            <a:picLocks noChangeAspect="1"/>
          </p:cNvPicPr>
          <p:nvPr/>
        </p:nvPicPr>
        <p:blipFill>
          <a:blip r:embed="rId2"/>
          <a:stretch>
            <a:fillRect/>
          </a:stretch>
        </p:blipFill>
        <p:spPr>
          <a:xfrm>
            <a:off x="487822" y="431993"/>
            <a:ext cx="2840982" cy="640135"/>
          </a:xfrm>
          <a:prstGeom prst="rect">
            <a:avLst/>
          </a:prstGeom>
        </p:spPr>
      </p:pic>
      <p:pic>
        <p:nvPicPr>
          <p:cNvPr id="7" name="Picture 6">
            <a:extLst>
              <a:ext uri="{FF2B5EF4-FFF2-40B4-BE49-F238E27FC236}">
                <a16:creationId xmlns:a16="http://schemas.microsoft.com/office/drawing/2014/main" id="{1E1FF688-2B98-497A-8D48-4CACBA8A06C9}"/>
              </a:ext>
            </a:extLst>
          </p:cNvPr>
          <p:cNvPicPr>
            <a:picLocks noChangeAspect="1"/>
          </p:cNvPicPr>
          <p:nvPr/>
        </p:nvPicPr>
        <p:blipFill>
          <a:blip r:embed="rId3"/>
          <a:stretch>
            <a:fillRect/>
          </a:stretch>
        </p:blipFill>
        <p:spPr>
          <a:xfrm>
            <a:off x="693207" y="1072128"/>
            <a:ext cx="6648497" cy="1865538"/>
          </a:xfrm>
          <a:prstGeom prst="rect">
            <a:avLst/>
          </a:prstGeom>
        </p:spPr>
      </p:pic>
      <p:pic>
        <p:nvPicPr>
          <p:cNvPr id="9" name="Picture 8">
            <a:extLst>
              <a:ext uri="{FF2B5EF4-FFF2-40B4-BE49-F238E27FC236}">
                <a16:creationId xmlns:a16="http://schemas.microsoft.com/office/drawing/2014/main" id="{6896868B-1D29-44D8-8EF2-69DEF81195C8}"/>
              </a:ext>
            </a:extLst>
          </p:cNvPr>
          <p:cNvPicPr>
            <a:picLocks noChangeAspect="1"/>
          </p:cNvPicPr>
          <p:nvPr/>
        </p:nvPicPr>
        <p:blipFill>
          <a:blip r:embed="rId4"/>
          <a:stretch>
            <a:fillRect/>
          </a:stretch>
        </p:blipFill>
        <p:spPr>
          <a:xfrm>
            <a:off x="693207" y="3205756"/>
            <a:ext cx="4114799" cy="640135"/>
          </a:xfrm>
          <a:prstGeom prst="rect">
            <a:avLst/>
          </a:prstGeom>
        </p:spPr>
      </p:pic>
      <p:pic>
        <p:nvPicPr>
          <p:cNvPr id="10" name="Picture 9">
            <a:extLst>
              <a:ext uri="{FF2B5EF4-FFF2-40B4-BE49-F238E27FC236}">
                <a16:creationId xmlns:a16="http://schemas.microsoft.com/office/drawing/2014/main" id="{FDF4063E-7A5B-4888-96B2-82B73495AE84}"/>
              </a:ext>
            </a:extLst>
          </p:cNvPr>
          <p:cNvPicPr>
            <a:picLocks noChangeAspect="1"/>
          </p:cNvPicPr>
          <p:nvPr/>
        </p:nvPicPr>
        <p:blipFill>
          <a:blip r:embed="rId5"/>
          <a:stretch>
            <a:fillRect/>
          </a:stretch>
        </p:blipFill>
        <p:spPr>
          <a:xfrm>
            <a:off x="838200" y="4168351"/>
            <a:ext cx="3450635" cy="1865538"/>
          </a:xfrm>
          <a:prstGeom prst="rect">
            <a:avLst/>
          </a:prstGeom>
        </p:spPr>
      </p:pic>
      <p:pic>
        <p:nvPicPr>
          <p:cNvPr id="16" name="Picture 15">
            <a:extLst>
              <a:ext uri="{FF2B5EF4-FFF2-40B4-BE49-F238E27FC236}">
                <a16:creationId xmlns:a16="http://schemas.microsoft.com/office/drawing/2014/main" id="{4F26F318-9239-449D-A9FB-B41B2ECFB4ED}"/>
              </a:ext>
            </a:extLst>
          </p:cNvPr>
          <p:cNvPicPr>
            <a:picLocks noChangeAspect="1"/>
          </p:cNvPicPr>
          <p:nvPr/>
        </p:nvPicPr>
        <p:blipFill>
          <a:blip r:embed="rId6"/>
          <a:stretch>
            <a:fillRect/>
          </a:stretch>
        </p:blipFill>
        <p:spPr>
          <a:xfrm>
            <a:off x="6180315" y="3717208"/>
            <a:ext cx="4497063" cy="2500712"/>
          </a:xfrm>
          <a:prstGeom prst="rect">
            <a:avLst/>
          </a:prstGeom>
        </p:spPr>
      </p:pic>
    </p:spTree>
    <p:extLst>
      <p:ext uri="{BB962C8B-B14F-4D97-AF65-F5344CB8AC3E}">
        <p14:creationId xmlns:p14="http://schemas.microsoft.com/office/powerpoint/2010/main" val="3148572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2DE344-9957-4599-B462-A5FD2AF4E348}"/>
              </a:ext>
            </a:extLst>
          </p:cNvPr>
          <p:cNvPicPr>
            <a:picLocks noChangeAspect="1"/>
          </p:cNvPicPr>
          <p:nvPr/>
        </p:nvPicPr>
        <p:blipFill>
          <a:blip r:embed="rId2"/>
          <a:stretch>
            <a:fillRect/>
          </a:stretch>
        </p:blipFill>
        <p:spPr>
          <a:xfrm>
            <a:off x="0" y="393895"/>
            <a:ext cx="5883966" cy="2686930"/>
          </a:xfrm>
          <a:prstGeom prst="rect">
            <a:avLst/>
          </a:prstGeom>
        </p:spPr>
      </p:pic>
      <p:sp>
        <p:nvSpPr>
          <p:cNvPr id="3" name="Footer Placeholder 2">
            <a:extLst>
              <a:ext uri="{FF2B5EF4-FFF2-40B4-BE49-F238E27FC236}">
                <a16:creationId xmlns:a16="http://schemas.microsoft.com/office/drawing/2014/main" id="{6AF619D3-6FEF-48EB-B6D6-636A35A2FCFE}"/>
              </a:ext>
            </a:extLst>
          </p:cNvPr>
          <p:cNvSpPr>
            <a:spLocks noGrp="1"/>
          </p:cNvSpPr>
          <p:nvPr>
            <p:ph type="ftr" sz="quarter" idx="11"/>
          </p:nvPr>
        </p:nvSpPr>
        <p:spPr>
          <a:xfrm>
            <a:off x="457201" y="6356350"/>
            <a:ext cx="5426764" cy="365125"/>
          </a:xfrm>
        </p:spPr>
        <p:txBody>
          <a:bodyPr>
            <a:normAutofit/>
          </a:bodyPr>
          <a:lstStyle/>
          <a:p>
            <a:pPr algn="l">
              <a:spcAft>
                <a:spcPts val="600"/>
              </a:spcAft>
              <a:defRPr/>
            </a:pPr>
            <a:r>
              <a:rPr lang="en-US"/>
              <a:t>Presentation Title</a:t>
            </a:r>
          </a:p>
        </p:txBody>
      </p:sp>
      <p:pic>
        <p:nvPicPr>
          <p:cNvPr id="5" name="Picture 4">
            <a:extLst>
              <a:ext uri="{FF2B5EF4-FFF2-40B4-BE49-F238E27FC236}">
                <a16:creationId xmlns:a16="http://schemas.microsoft.com/office/drawing/2014/main" id="{3094BE64-CB95-4C35-BF62-937D67A8B417}"/>
              </a:ext>
            </a:extLst>
          </p:cNvPr>
          <p:cNvPicPr>
            <a:picLocks noChangeAspect="1"/>
          </p:cNvPicPr>
          <p:nvPr/>
        </p:nvPicPr>
        <p:blipFill>
          <a:blip r:embed="rId3"/>
          <a:stretch>
            <a:fillRect/>
          </a:stretch>
        </p:blipFill>
        <p:spPr>
          <a:xfrm>
            <a:off x="457201" y="4491477"/>
            <a:ext cx="5426764" cy="1039798"/>
          </a:xfrm>
          <a:prstGeom prst="rect">
            <a:avLst/>
          </a:prstGeom>
        </p:spPr>
      </p:pic>
      <p:sp>
        <p:nvSpPr>
          <p:cNvPr id="12" name="Rectangle 11">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66B5E8B-C525-4580-8253-58B62C78291D}"/>
              </a:ext>
            </a:extLst>
          </p:cNvPr>
          <p:cNvSpPr>
            <a:spLocks noGrp="1"/>
          </p:cNvSpPr>
          <p:nvPr>
            <p:ph type="dt" sz="half" idx="10"/>
          </p:nvPr>
        </p:nvSpPr>
        <p:spPr>
          <a:xfrm>
            <a:off x="6308034" y="6356350"/>
            <a:ext cx="2743200" cy="365125"/>
          </a:xfrm>
        </p:spPr>
        <p:txBody>
          <a:bodyPr>
            <a:normAutofit/>
          </a:bodyPr>
          <a:lstStyle/>
          <a:p>
            <a:pPr>
              <a:spcAft>
                <a:spcPts val="600"/>
              </a:spcAft>
              <a:defRPr/>
            </a:pPr>
            <a:r>
              <a:rPr lang="en-US"/>
              <a:t>9/3/20XX</a:t>
            </a:r>
          </a:p>
        </p:txBody>
      </p:sp>
      <p:sp>
        <p:nvSpPr>
          <p:cNvPr id="4" name="Slide Number Placeholder 3">
            <a:extLst>
              <a:ext uri="{FF2B5EF4-FFF2-40B4-BE49-F238E27FC236}">
                <a16:creationId xmlns:a16="http://schemas.microsoft.com/office/drawing/2014/main" id="{21064728-E76A-4301-A7F0-7AF718E53960}"/>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D76B855D-E9CC-4FF8-AD85-6CDC7B89A0DE}" type="slidenum">
              <a:rPr lang="en-US" smtClean="0"/>
              <a:pPr>
                <a:spcAft>
                  <a:spcPts val="600"/>
                </a:spcAft>
                <a:defRPr/>
              </a:pPr>
              <a:t>7</a:t>
            </a:fld>
            <a:endParaRPr lang="en-US"/>
          </a:p>
        </p:txBody>
      </p:sp>
      <p:pic>
        <p:nvPicPr>
          <p:cNvPr id="6" name="Picture 5">
            <a:extLst>
              <a:ext uri="{FF2B5EF4-FFF2-40B4-BE49-F238E27FC236}">
                <a16:creationId xmlns:a16="http://schemas.microsoft.com/office/drawing/2014/main" id="{084D87A7-9064-4C88-BEB9-B9C801B0D4A0}"/>
              </a:ext>
            </a:extLst>
          </p:cNvPr>
          <p:cNvPicPr>
            <a:picLocks noChangeAspect="1"/>
          </p:cNvPicPr>
          <p:nvPr/>
        </p:nvPicPr>
        <p:blipFill>
          <a:blip r:embed="rId4"/>
          <a:stretch>
            <a:fillRect/>
          </a:stretch>
        </p:blipFill>
        <p:spPr>
          <a:xfrm>
            <a:off x="6308034" y="1531945"/>
            <a:ext cx="5426764" cy="3649499"/>
          </a:xfrm>
          <a:prstGeom prst="rect">
            <a:avLst/>
          </a:prstGeom>
        </p:spPr>
      </p:pic>
    </p:spTree>
    <p:extLst>
      <p:ext uri="{BB962C8B-B14F-4D97-AF65-F5344CB8AC3E}">
        <p14:creationId xmlns:p14="http://schemas.microsoft.com/office/powerpoint/2010/main" val="355346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7267A660-8C49-48B5-B21D-529D970D18C4}"/>
              </a:ext>
            </a:extLst>
          </p:cNvPr>
          <p:cNvPicPr>
            <a:picLocks noChangeAspect="1"/>
          </p:cNvPicPr>
          <p:nvPr/>
        </p:nvPicPr>
        <p:blipFill>
          <a:blip r:embed="rId2"/>
          <a:stretch>
            <a:fillRect/>
          </a:stretch>
        </p:blipFill>
        <p:spPr>
          <a:xfrm>
            <a:off x="6541053" y="1467524"/>
            <a:ext cx="5257800" cy="375024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4" name="Arc 2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DC935A-EDF8-4573-8751-491AB23A6153}"/>
              </a:ext>
            </a:extLst>
          </p:cNvPr>
          <p:cNvSpPr>
            <a:spLocks noGrp="1"/>
          </p:cNvSpPr>
          <p:nvPr>
            <p:ph type="title"/>
          </p:nvPr>
        </p:nvSpPr>
        <p:spPr>
          <a:xfrm>
            <a:off x="838201" y="479493"/>
            <a:ext cx="5257800" cy="1325563"/>
          </a:xfrm>
        </p:spPr>
        <p:txBody>
          <a:bodyPr>
            <a:normAutofit/>
          </a:bodyPr>
          <a:lstStyle/>
          <a:p>
            <a:r>
              <a:rPr lang="en-IN" dirty="0"/>
              <a:t>Data </a:t>
            </a:r>
            <a:r>
              <a:rPr lang="en-IN" dirty="0">
                <a:latin typeface="Comic Sans MS" panose="030F0702030302020204" pitchFamily="66" charset="0"/>
              </a:rPr>
              <a:t>Pre-Processing</a:t>
            </a:r>
          </a:p>
        </p:txBody>
      </p:sp>
      <p:sp>
        <p:nvSpPr>
          <p:cNvPr id="3" name="Content Placeholder 2">
            <a:extLst>
              <a:ext uri="{FF2B5EF4-FFF2-40B4-BE49-F238E27FC236}">
                <a16:creationId xmlns:a16="http://schemas.microsoft.com/office/drawing/2014/main" id="{267CFE85-7167-469E-946D-68BC703A3840}"/>
              </a:ext>
            </a:extLst>
          </p:cNvPr>
          <p:cNvSpPr>
            <a:spLocks noGrp="1"/>
          </p:cNvSpPr>
          <p:nvPr>
            <p:ph idx="1"/>
          </p:nvPr>
        </p:nvSpPr>
        <p:spPr>
          <a:xfrm>
            <a:off x="838201" y="1984443"/>
            <a:ext cx="5257800" cy="4192520"/>
          </a:xfrm>
        </p:spPr>
        <p:txBody>
          <a:bodyPr>
            <a:normAutofit/>
          </a:bodyPr>
          <a:lstStyle/>
          <a:p>
            <a:pPr>
              <a:buFont typeface="Wingdings" panose="05000000000000000000" pitchFamily="2" charset="2"/>
              <a:buChar char="Ø"/>
            </a:pPr>
            <a:endParaRPr lang="en-US" sz="2200">
              <a:latin typeface="Comic Sans MS" panose="030F0702030302020204" pitchFamily="66" charset="0"/>
            </a:endParaRPr>
          </a:p>
          <a:p>
            <a:pPr>
              <a:buFont typeface="Wingdings" panose="05000000000000000000" pitchFamily="2" charset="2"/>
              <a:buChar char="Ø"/>
            </a:pPr>
            <a:r>
              <a:rPr lang="en-US" sz="2200">
                <a:latin typeface="Comic Sans MS" panose="030F0702030302020204" pitchFamily="66" charset="0"/>
              </a:rPr>
              <a:t>Encoding the data:</a:t>
            </a:r>
          </a:p>
          <a:p>
            <a:pPr marL="0" indent="0">
              <a:buNone/>
            </a:pPr>
            <a:r>
              <a:rPr lang="en-US" sz="2200">
                <a:latin typeface="Comic Sans MS" panose="030F0702030302020204" pitchFamily="66" charset="0"/>
              </a:rPr>
              <a:t>TO convert all object type data to numerical of both training and testing data we use Ordinal encoder.</a:t>
            </a:r>
          </a:p>
          <a:p>
            <a:pPr>
              <a:buFont typeface="Wingdings" panose="05000000000000000000" pitchFamily="2" charset="2"/>
              <a:buChar char="Ø"/>
            </a:pPr>
            <a:r>
              <a:rPr lang="en-IN" sz="2200">
                <a:effectLst/>
                <a:latin typeface="Comic Sans MS" panose="030F0702030302020204" pitchFamily="66" charset="0"/>
                <a:ea typeface="Calibri" panose="020F0502020204030204" pitchFamily="34" charset="0"/>
              </a:rPr>
              <a:t>Drop all the unwanted column present in the dataset.</a:t>
            </a:r>
          </a:p>
          <a:p>
            <a:pPr>
              <a:buFont typeface="Wingdings" panose="05000000000000000000" pitchFamily="2" charset="2"/>
              <a:buChar char="Ø"/>
            </a:pPr>
            <a:r>
              <a:rPr lang="en-US" sz="2200">
                <a:latin typeface="Comic Sans MS" panose="030F0702030302020204" pitchFamily="66" charset="0"/>
              </a:rPr>
              <a:t>Checking the correlation of target variable Sale Price with respect to all the other feature variables.</a:t>
            </a: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US" sz="2200">
              <a:latin typeface="Comic Sans MS" panose="030F0702030302020204" pitchFamily="66" charset="0"/>
            </a:endParaRPr>
          </a:p>
          <a:p>
            <a:pPr marL="0" indent="0">
              <a:buNone/>
            </a:pPr>
            <a:endParaRPr lang="en-IN" sz="2200"/>
          </a:p>
        </p:txBody>
      </p:sp>
      <p:sp>
        <p:nvSpPr>
          <p:cNvPr id="4" name="Date Placeholder 3">
            <a:extLst>
              <a:ext uri="{FF2B5EF4-FFF2-40B4-BE49-F238E27FC236}">
                <a16:creationId xmlns:a16="http://schemas.microsoft.com/office/drawing/2014/main" id="{FAD13463-DE9F-4914-B0B6-0ECB63389C8C}"/>
              </a:ext>
            </a:extLst>
          </p:cNvPr>
          <p:cNvSpPr>
            <a:spLocks noGrp="1"/>
          </p:cNvSpPr>
          <p:nvPr>
            <p:ph type="dt" sz="half" idx="10"/>
          </p:nvPr>
        </p:nvSpPr>
        <p:spPr>
          <a:xfrm>
            <a:off x="838200" y="6356350"/>
            <a:ext cx="2743200" cy="365125"/>
          </a:xfrm>
        </p:spPr>
        <p:txBody>
          <a:bodyPr>
            <a:normAutofit/>
          </a:bodyPr>
          <a:lstStyle/>
          <a:p>
            <a:pPr>
              <a:spcAft>
                <a:spcPts val="600"/>
              </a:spcAft>
              <a:defRPr/>
            </a:pPr>
            <a:r>
              <a:rPr lang="en-US">
                <a:solidFill>
                  <a:prstClr val="black">
                    <a:tint val="75000"/>
                  </a:prstClr>
                </a:solidFill>
              </a:rPr>
              <a:t>9/3/20XX</a:t>
            </a:r>
          </a:p>
        </p:txBody>
      </p:sp>
      <p:sp>
        <p:nvSpPr>
          <p:cNvPr id="5" name="Footer Placeholder 4">
            <a:extLst>
              <a:ext uri="{FF2B5EF4-FFF2-40B4-BE49-F238E27FC236}">
                <a16:creationId xmlns:a16="http://schemas.microsoft.com/office/drawing/2014/main" id="{1E59D828-B16D-45DF-8CFF-E89506685D81}"/>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77B637C0-6F3F-4168-B09B-C9AB50AAF2D2}"/>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8</a:t>
            </a:fld>
            <a:endParaRPr lang="en-US">
              <a:solidFill>
                <a:prstClr val="black">
                  <a:tint val="75000"/>
                </a:prstClr>
              </a:solidFill>
            </a:endParaRPr>
          </a:p>
        </p:txBody>
      </p:sp>
    </p:spTree>
    <p:extLst>
      <p:ext uri="{BB962C8B-B14F-4D97-AF65-F5344CB8AC3E}">
        <p14:creationId xmlns:p14="http://schemas.microsoft.com/office/powerpoint/2010/main" val="244039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28">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reeform: Shape 30">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40" name="Rectangle 32">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73B3C57-9C55-49D0-B4D1-5F213DC9FDCE}"/>
              </a:ext>
            </a:extLst>
          </p:cNvPr>
          <p:cNvSpPr txBox="1"/>
          <p:nvPr/>
        </p:nvSpPr>
        <p:spPr>
          <a:xfrm>
            <a:off x="633456" y="415998"/>
            <a:ext cx="5397237" cy="5882024"/>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dirty="0">
                <a:latin typeface="Comic Sans MS" panose="030F0702030302020204" pitchFamily="66" charset="0"/>
              </a:rPr>
              <a:t>Checking weather there are any outliers and skewness problem for both the data sets. If yes, then solving these using power transformation techniques and Z-score techniques.</a:t>
            </a:r>
            <a:br>
              <a:rPr lang="en-US" sz="2200" dirty="0">
                <a:latin typeface="Comic Sans MS" panose="030F0702030302020204" pitchFamily="66" charset="0"/>
              </a:rPr>
            </a:br>
            <a:br>
              <a:rPr lang="en-US" sz="2200" dirty="0">
                <a:latin typeface="Comic Sans MS" panose="030F0702030302020204" pitchFamily="66" charset="0"/>
              </a:rPr>
            </a:br>
            <a:br>
              <a:rPr lang="en-US" sz="2200" dirty="0">
                <a:latin typeface="Comic Sans MS" panose="030F0702030302020204" pitchFamily="66" charset="0"/>
              </a:rPr>
            </a:br>
            <a:br>
              <a:rPr lang="en-US" sz="2200" dirty="0">
                <a:latin typeface="Comic Sans MS" panose="030F0702030302020204" pitchFamily="66" charset="0"/>
              </a:rPr>
            </a:br>
            <a:r>
              <a:rPr lang="en-US" sz="2200" dirty="0">
                <a:latin typeface="Comic Sans MS" panose="030F0702030302020204" pitchFamily="66" charset="0"/>
              </a:rPr>
              <a:t>Feature selection method:</a:t>
            </a:r>
            <a:br>
              <a:rPr lang="en-US" sz="2200" dirty="0">
                <a:latin typeface="Comic Sans MS" panose="030F0702030302020204" pitchFamily="66" charset="0"/>
              </a:rPr>
            </a:br>
            <a:r>
              <a:rPr lang="en-US" sz="2200" dirty="0">
                <a:latin typeface="Comic Sans MS" panose="030F0702030302020204" pitchFamily="66" charset="0"/>
              </a:rPr>
              <a:t>In Feature selection method, we selected top 55 features out of 79 features present in the dataset by importing </a:t>
            </a:r>
            <a:r>
              <a:rPr lang="en-US" sz="2200" dirty="0" err="1">
                <a:latin typeface="Comic Sans MS" panose="030F0702030302020204" pitchFamily="66" charset="0"/>
              </a:rPr>
              <a:t>SelectKBest</a:t>
            </a:r>
            <a:r>
              <a:rPr lang="en-US" sz="2200" dirty="0">
                <a:latin typeface="Comic Sans MS" panose="030F0702030302020204" pitchFamily="66" charset="0"/>
              </a:rPr>
              <a:t>, </a:t>
            </a:r>
            <a:r>
              <a:rPr lang="en-US" sz="2200" dirty="0" err="1">
                <a:latin typeface="Comic Sans MS" panose="030F0702030302020204" pitchFamily="66" charset="0"/>
              </a:rPr>
              <a:t>f_classif</a:t>
            </a:r>
            <a:r>
              <a:rPr lang="en-US" sz="2200" dirty="0">
                <a:latin typeface="Comic Sans MS" panose="030F0702030302020204" pitchFamily="66" charset="0"/>
              </a:rPr>
              <a:t> methods.</a:t>
            </a:r>
            <a:br>
              <a:rPr lang="en-US" sz="2200" dirty="0">
                <a:latin typeface="Comic Sans MS" panose="030F0702030302020204" pitchFamily="66" charset="0"/>
              </a:rPr>
            </a:br>
            <a:endParaRPr lang="en-US" sz="2200" dirty="0">
              <a:latin typeface="Comic Sans MS" panose="030F0702030302020204" pitchFamily="66" charset="0"/>
            </a:endParaRPr>
          </a:p>
        </p:txBody>
      </p:sp>
      <p:pic>
        <p:nvPicPr>
          <p:cNvPr id="10" name="Picture 9">
            <a:extLst>
              <a:ext uri="{FF2B5EF4-FFF2-40B4-BE49-F238E27FC236}">
                <a16:creationId xmlns:a16="http://schemas.microsoft.com/office/drawing/2014/main" id="{45F3ED86-1C45-4936-BAD3-2B6AE2B88D63}"/>
              </a:ext>
            </a:extLst>
          </p:cNvPr>
          <p:cNvPicPr>
            <a:picLocks noChangeAspect="1"/>
          </p:cNvPicPr>
          <p:nvPr/>
        </p:nvPicPr>
        <p:blipFill>
          <a:blip r:embed="rId2"/>
          <a:stretch>
            <a:fillRect/>
          </a:stretch>
        </p:blipFill>
        <p:spPr>
          <a:xfrm>
            <a:off x="6798100" y="415998"/>
            <a:ext cx="4555700" cy="3013002"/>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41" name="Freeform: Shape 34">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D00E1D10-8F7B-4C90-A8E0-1B2449F5D54F}"/>
              </a:ext>
            </a:extLst>
          </p:cNvPr>
          <p:cNvPicPr>
            <a:picLocks noChangeAspect="1"/>
          </p:cNvPicPr>
          <p:nvPr/>
        </p:nvPicPr>
        <p:blipFill>
          <a:blip r:embed="rId3"/>
          <a:stretch>
            <a:fillRect/>
          </a:stretch>
        </p:blipFill>
        <p:spPr>
          <a:xfrm>
            <a:off x="6798100" y="3719582"/>
            <a:ext cx="4555700" cy="2346186"/>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37" name="Arc 36">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504802" flipH="1">
            <a:off x="6443172"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Date Placeholder 1">
            <a:extLst>
              <a:ext uri="{FF2B5EF4-FFF2-40B4-BE49-F238E27FC236}">
                <a16:creationId xmlns:a16="http://schemas.microsoft.com/office/drawing/2014/main" id="{ADEC7647-1543-4937-AB09-5676FD1F2252}"/>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a:solidFill>
                  <a:prstClr val="black">
                    <a:tint val="75000"/>
                  </a:prstClr>
                </a:solidFill>
              </a:rPr>
              <a:t>9/3/20XX</a:t>
            </a:r>
          </a:p>
        </p:txBody>
      </p:sp>
      <p:sp>
        <p:nvSpPr>
          <p:cNvPr id="3" name="Footer Placeholder 2">
            <a:extLst>
              <a:ext uri="{FF2B5EF4-FFF2-40B4-BE49-F238E27FC236}">
                <a16:creationId xmlns:a16="http://schemas.microsoft.com/office/drawing/2014/main" id="{2B81C4A3-9E18-4475-8B3F-9C9B6E6C042C}"/>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mn-lt"/>
                <a:ea typeface="+mn-ea"/>
                <a:cs typeface="+mn-cs"/>
              </a:rPr>
              <a:t>Presentation Title</a:t>
            </a:r>
          </a:p>
        </p:txBody>
      </p:sp>
      <p:sp>
        <p:nvSpPr>
          <p:cNvPr id="4" name="Slide Number Placeholder 3">
            <a:extLst>
              <a:ext uri="{FF2B5EF4-FFF2-40B4-BE49-F238E27FC236}">
                <a16:creationId xmlns:a16="http://schemas.microsoft.com/office/drawing/2014/main" id="{080A3D24-2580-4640-8428-7DE93009F5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9</a:t>
            </a:fld>
            <a:endParaRPr lang="en-US">
              <a:solidFill>
                <a:prstClr val="black">
                  <a:tint val="75000"/>
                </a:prstClr>
              </a:solidFill>
            </a:endParaRPr>
          </a:p>
        </p:txBody>
      </p:sp>
    </p:spTree>
    <p:extLst>
      <p:ext uri="{BB962C8B-B14F-4D97-AF65-F5344CB8AC3E}">
        <p14:creationId xmlns:p14="http://schemas.microsoft.com/office/powerpoint/2010/main" val="193710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AFE60C80-DDE6-406B-B0DD-92E18585D156}"/>
              </a:ext>
            </a:extLst>
          </p:cNvPr>
          <p:cNvPicPr>
            <a:picLocks noChangeAspect="1"/>
          </p:cNvPicPr>
          <p:nvPr/>
        </p:nvPicPr>
        <p:blipFill>
          <a:blip r:embed="rId2"/>
          <a:stretch>
            <a:fillRect/>
          </a:stretch>
        </p:blipFill>
        <p:spPr>
          <a:xfrm>
            <a:off x="6606326" y="1894807"/>
            <a:ext cx="5257800" cy="402656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2" name="Arc 21">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51FF84-DBA6-4FDF-93EA-DBA0597614F0}"/>
              </a:ext>
            </a:extLst>
          </p:cNvPr>
          <p:cNvSpPr>
            <a:spLocks noGrp="1"/>
          </p:cNvSpPr>
          <p:nvPr>
            <p:ph type="title"/>
          </p:nvPr>
        </p:nvSpPr>
        <p:spPr>
          <a:xfrm>
            <a:off x="838201" y="479493"/>
            <a:ext cx="8358808" cy="1325563"/>
          </a:xfrm>
        </p:spPr>
        <p:txBody>
          <a:bodyPr vert="horz" lIns="91440" tIns="45720" rIns="91440" bIns="45720" rtlCol="0" anchor="ctr">
            <a:normAutofit/>
          </a:bodyPr>
          <a:lstStyle/>
          <a:p>
            <a:r>
              <a:rPr lang="en-US" b="1" kern="1200" dirty="0">
                <a:solidFill>
                  <a:schemeClr val="tx1"/>
                </a:solidFill>
                <a:latin typeface="+mj-lt"/>
                <a:ea typeface="+mj-ea"/>
                <a:cs typeface="+mj-cs"/>
              </a:rPr>
              <a:t>Model Building</a:t>
            </a:r>
            <a:r>
              <a:rPr lang="en-US" kern="1200" dirty="0">
                <a:solidFill>
                  <a:schemeClr val="tx1"/>
                </a:solidFill>
                <a:latin typeface="+mj-lt"/>
                <a:ea typeface="+mj-ea"/>
                <a:cs typeface="+mj-cs"/>
              </a:rPr>
              <a:t>:</a:t>
            </a:r>
            <a:br>
              <a:rPr lang="en-US" kern="1200" dirty="0">
                <a:solidFill>
                  <a:schemeClr val="tx1"/>
                </a:solidFill>
                <a:latin typeface="+mj-lt"/>
                <a:ea typeface="+mj-ea"/>
                <a:cs typeface="+mj-cs"/>
              </a:rPr>
            </a:br>
            <a:r>
              <a:rPr lang="en-IN" sz="4400" dirty="0">
                <a:effectLst/>
                <a:latin typeface="Comic Sans MS" panose="030F0702030302020204" pitchFamily="66" charset="0"/>
                <a:ea typeface="Calibri" panose="020F0502020204030204" pitchFamily="34" charset="0"/>
              </a:rPr>
              <a:t>linear regression</a:t>
            </a:r>
            <a:r>
              <a:rPr lang="en-US" sz="4400" dirty="0">
                <a:effectLst/>
                <a:latin typeface="Comic Sans MS" panose="030F0702030302020204" pitchFamily="66" charset="0"/>
                <a:ea typeface="Calibri" panose="020F0502020204030204" pitchFamily="34" charset="0"/>
              </a:rPr>
              <a:t> Model:</a:t>
            </a:r>
            <a:endParaRPr lang="en-US" kern="1200" dirty="0">
              <a:solidFill>
                <a:schemeClr val="tx1"/>
              </a:solidFill>
              <a:latin typeface="+mj-lt"/>
              <a:ea typeface="+mj-ea"/>
              <a:cs typeface="+mj-cs"/>
            </a:endParaRPr>
          </a:p>
        </p:txBody>
      </p:sp>
      <p:sp>
        <p:nvSpPr>
          <p:cNvPr id="11" name="Content Placeholder 10">
            <a:extLst>
              <a:ext uri="{FF2B5EF4-FFF2-40B4-BE49-F238E27FC236}">
                <a16:creationId xmlns:a16="http://schemas.microsoft.com/office/drawing/2014/main" id="{9088790B-2F09-E9A4-80AA-41D61D7C0471}"/>
              </a:ext>
            </a:extLst>
          </p:cNvPr>
          <p:cNvSpPr>
            <a:spLocks noGrp="1"/>
          </p:cNvSpPr>
          <p:nvPr>
            <p:ph idx="1"/>
          </p:nvPr>
        </p:nvSpPr>
        <p:spPr>
          <a:xfrm>
            <a:off x="838201" y="1984443"/>
            <a:ext cx="5257800" cy="4192520"/>
          </a:xfrm>
        </p:spPr>
        <p:txBody>
          <a:bodyPr vert="horz" lIns="91440" tIns="45720" rIns="91440" bIns="45720" rtlCol="0">
            <a:normAutofit/>
          </a:bodyPr>
          <a:lstStyle/>
          <a:p>
            <a:r>
              <a:rPr lang="en-IN" sz="2000" dirty="0">
                <a:effectLst/>
                <a:latin typeface="Comic Sans MS" panose="030F0702030302020204" pitchFamily="66" charset="0"/>
                <a:ea typeface="Calibri" panose="020F0502020204030204" pitchFamily="34" charset="0"/>
              </a:rPr>
              <a:t>linear regression model to test the data the r2 score of the predicted data is given as </a:t>
            </a:r>
            <a:r>
              <a:rPr lang="en-IN" sz="2000" b="1"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0.7423741774561421</a:t>
            </a:r>
            <a:r>
              <a:rPr lang="en-IN"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p>
          <a:p>
            <a:r>
              <a:rPr lang="en-US" sz="2000" dirty="0">
                <a:latin typeface="Comic Sans MS" panose="030F0702030302020204" pitchFamily="66" charset="0"/>
              </a:rPr>
              <a:t>Once the model is linearly regressed then use lasso regularization technique to get the maximum best </a:t>
            </a:r>
            <a:r>
              <a:rPr lang="en-US" sz="2000" b="1" dirty="0">
                <a:latin typeface="Comic Sans MS" panose="030F0702030302020204" pitchFamily="66" charset="0"/>
              </a:rPr>
              <a:t>output-0.7425260295759903.</a:t>
            </a:r>
          </a:p>
          <a:p>
            <a:r>
              <a:rPr lang="en-US" sz="2000" dirty="0">
                <a:latin typeface="Comic Sans MS" panose="030F0702030302020204" pitchFamily="66" charset="0"/>
              </a:rPr>
              <a:t>Using the best cross validation score we get the output for this model as</a:t>
            </a:r>
          </a:p>
          <a:p>
            <a:pPr marL="0" indent="0">
              <a:buNone/>
            </a:pPr>
            <a:r>
              <a:rPr lang="en-US" sz="2000" b="1" dirty="0">
                <a:latin typeface="Comic Sans MS" panose="030F0702030302020204" pitchFamily="66" charset="0"/>
              </a:rPr>
              <a:t>  0.7875568967830889</a:t>
            </a:r>
          </a:p>
          <a:p>
            <a:endParaRPr lang="en-US" sz="2000" dirty="0">
              <a:latin typeface="Comic Sans MS" panose="030F0702030302020204" pitchFamily="66" charset="0"/>
            </a:endParaRPr>
          </a:p>
        </p:txBody>
      </p:sp>
      <p:sp>
        <p:nvSpPr>
          <p:cNvPr id="3" name="Date Placeholder 2">
            <a:extLst>
              <a:ext uri="{FF2B5EF4-FFF2-40B4-BE49-F238E27FC236}">
                <a16:creationId xmlns:a16="http://schemas.microsoft.com/office/drawing/2014/main" id="{6E13BD22-0762-4442-861A-222C33B3024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r>
              <a:rPr lang="en-US">
                <a:solidFill>
                  <a:prstClr val="black">
                    <a:tint val="75000"/>
                  </a:prstClr>
                </a:solidFill>
              </a:rPr>
              <a:t>9/3/20XX</a:t>
            </a:r>
          </a:p>
        </p:txBody>
      </p:sp>
      <p:sp>
        <p:nvSpPr>
          <p:cNvPr id="4" name="Footer Placeholder 3">
            <a:extLst>
              <a:ext uri="{FF2B5EF4-FFF2-40B4-BE49-F238E27FC236}">
                <a16:creationId xmlns:a16="http://schemas.microsoft.com/office/drawing/2014/main" id="{8ADB8D43-D0F5-4133-8DAE-C821551F0ED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a:solidFill>
                  <a:prstClr val="black">
                    <a:tint val="75000"/>
                  </a:prstClr>
                </a:solidFill>
                <a:latin typeface="+mn-lt"/>
                <a:ea typeface="+mn-ea"/>
                <a:cs typeface="+mn-cs"/>
              </a:rPr>
              <a:t>Presentation Title</a:t>
            </a:r>
          </a:p>
        </p:txBody>
      </p:sp>
      <p:sp>
        <p:nvSpPr>
          <p:cNvPr id="5" name="Slide Number Placeholder 4">
            <a:extLst>
              <a:ext uri="{FF2B5EF4-FFF2-40B4-BE49-F238E27FC236}">
                <a16:creationId xmlns:a16="http://schemas.microsoft.com/office/drawing/2014/main" id="{2FA9EE62-1D2B-4ACF-92E5-73683D1D063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US" smtClean="0">
                <a:solidFill>
                  <a:prstClr val="black">
                    <a:tint val="75000"/>
                  </a:prstClr>
                </a:solidFill>
              </a:rPr>
              <a:pPr>
                <a:spcAft>
                  <a:spcPts val="600"/>
                </a:spcAft>
                <a:defRPr/>
              </a:pPr>
              <a:t>10</a:t>
            </a:fld>
            <a:endParaRPr lang="en-US">
              <a:solidFill>
                <a:prstClr val="black">
                  <a:tint val="75000"/>
                </a:prstClr>
              </a:solidFill>
            </a:endParaRPr>
          </a:p>
        </p:txBody>
      </p:sp>
    </p:spTree>
    <p:extLst>
      <p:ext uri="{BB962C8B-B14F-4D97-AF65-F5344CB8AC3E}">
        <p14:creationId xmlns:p14="http://schemas.microsoft.com/office/powerpoint/2010/main" val="189429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333-4773-4118-A92E-34035819FB39}"/>
              </a:ext>
            </a:extLst>
          </p:cNvPr>
          <p:cNvSpPr>
            <a:spLocks noGrp="1"/>
          </p:cNvSpPr>
          <p:nvPr>
            <p:ph type="title"/>
          </p:nvPr>
        </p:nvSpPr>
        <p:spPr>
          <a:xfrm>
            <a:off x="427382" y="397665"/>
            <a:ext cx="10515600" cy="1325563"/>
          </a:xfrm>
        </p:spPr>
        <p:txBody>
          <a:bodyPr>
            <a:normAutofit/>
          </a:bodyPr>
          <a:lstStyle/>
          <a:p>
            <a:r>
              <a:rPr lang="en-IN" sz="3200">
                <a:latin typeface="Comic Sans MS" panose="030F0702030302020204" pitchFamily="66" charset="0"/>
              </a:rPr>
              <a:t>Ensemble Approaches for model building and their outputs</a:t>
            </a:r>
            <a:endParaRPr lang="en-IN" sz="3200" dirty="0">
              <a:latin typeface="Comic Sans MS" panose="030F0702030302020204" pitchFamily="66" charset="0"/>
            </a:endParaRPr>
          </a:p>
        </p:txBody>
      </p:sp>
      <p:sp>
        <p:nvSpPr>
          <p:cNvPr id="3" name="Date Placeholder 2">
            <a:extLst>
              <a:ext uri="{FF2B5EF4-FFF2-40B4-BE49-F238E27FC236}">
                <a16:creationId xmlns:a16="http://schemas.microsoft.com/office/drawing/2014/main" id="{375E2163-37C3-4021-ACA2-5AA29C3B86EE}"/>
              </a:ext>
            </a:extLst>
          </p:cNvPr>
          <p:cNvSpPr>
            <a:spLocks noGrp="1"/>
          </p:cNvSpPr>
          <p:nvPr>
            <p:ph type="dt" sz="half" idx="10"/>
          </p:nvPr>
        </p:nvSpPr>
        <p:spPr/>
        <p:txBody>
          <a:body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7F8E0FE0-AEF3-47DC-92EF-8E9ED8ABB735}"/>
              </a:ext>
            </a:extLst>
          </p:cNvPr>
          <p:cNvSpPr>
            <a:spLocks noGrp="1"/>
          </p:cNvSpPr>
          <p:nvPr>
            <p:ph type="ftr" sz="quarter" idx="11"/>
          </p:nvPr>
        </p:nvSpPr>
        <p:spPr/>
        <p:txBody>
          <a:bodyPr/>
          <a:lstStyle/>
          <a:p>
            <a:pPr>
              <a:defRPr/>
            </a:pPr>
            <a:r>
              <a:rPr lang="en-US">
                <a:solidFill>
                  <a:prstClr val="black">
                    <a:tint val="75000"/>
                  </a:prstClr>
                </a:solidFill>
              </a:rPr>
              <a:t>Presentation Title</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CD9D711E-5E02-409A-8214-DFB7C6AD30DD}"/>
              </a:ext>
            </a:extLst>
          </p:cNvPr>
          <p:cNvSpPr>
            <a:spLocks noGrp="1"/>
          </p:cNvSpPr>
          <p:nvPr>
            <p:ph type="sldNum" sz="quarter" idx="12"/>
          </p:nvPr>
        </p:nvSpPr>
        <p:spPr/>
        <p:txBody>
          <a:bodyPr/>
          <a:lstStyle/>
          <a:p>
            <a:pPr>
              <a:defRPr/>
            </a:pPr>
            <a:fld id="{D76B855D-E9CC-4FF8-AD85-6CDC7B89A0DE}" type="slidenum">
              <a:rPr lang="en-US" smtClean="0">
                <a:solidFill>
                  <a:prstClr val="black">
                    <a:tint val="75000"/>
                  </a:prstClr>
                </a:solidFill>
              </a:rPr>
              <a:pPr>
                <a:defRPr/>
              </a:pPr>
              <a:t>11</a:t>
            </a:fld>
            <a:endParaRPr lang="en-US" dirty="0">
              <a:solidFill>
                <a:prstClr val="black">
                  <a:tint val="75000"/>
                </a:prstClr>
              </a:solidFill>
            </a:endParaRPr>
          </a:p>
        </p:txBody>
      </p:sp>
      <p:sp>
        <p:nvSpPr>
          <p:cNvPr id="6" name="Content Placeholder 5">
            <a:extLst>
              <a:ext uri="{FF2B5EF4-FFF2-40B4-BE49-F238E27FC236}">
                <a16:creationId xmlns:a16="http://schemas.microsoft.com/office/drawing/2014/main" id="{958553A9-780D-4A9C-A55B-AFCEA8EC607C}"/>
              </a:ext>
            </a:extLst>
          </p:cNvPr>
          <p:cNvSpPr>
            <a:spLocks noGrp="1"/>
          </p:cNvSpPr>
          <p:nvPr>
            <p:ph idx="1"/>
          </p:nvPr>
        </p:nvSpPr>
        <p:spPr/>
        <p:txBody>
          <a:bodyPr>
            <a:normAutofit/>
          </a:bodyPr>
          <a:lstStyle/>
          <a:p>
            <a:pPr>
              <a:spcBef>
                <a:spcPts val="645"/>
              </a:spcBef>
            </a:pPr>
            <a:r>
              <a:rPr lang="en-IN" sz="1800" b="0">
                <a:solidFill>
                  <a:srgbClr val="000000"/>
                </a:solidFill>
                <a:effectLst/>
                <a:latin typeface="Comic Sans MS" panose="030F0702030302020204" pitchFamily="66" charset="0"/>
                <a:ea typeface="Times New Roman" panose="02020603050405020304" pitchFamily="18" charset="0"/>
              </a:rPr>
              <a:t>Random Forest Regression:</a:t>
            </a:r>
            <a:endParaRPr lang="en-IN" sz="1800" b="1">
              <a:effectLst/>
              <a:latin typeface="Comic Sans MS" panose="030F0702030302020204" pitchFamily="66" charset="0"/>
              <a:ea typeface="Times New Roman" panose="02020603050405020304" pitchFamily="18" charset="0"/>
            </a:endParaRPr>
          </a:p>
          <a:p>
            <a:pPr>
              <a:spcBef>
                <a:spcPts val="645"/>
              </a:spcBef>
            </a:pPr>
            <a:r>
              <a:rPr lang="en-IN" sz="1800" b="0">
                <a:solidFill>
                  <a:srgbClr val="000000"/>
                </a:solidFill>
                <a:effectLst/>
                <a:latin typeface="Comic Sans MS" panose="030F0702030302020204" pitchFamily="66" charset="0"/>
                <a:ea typeface="Times New Roman" panose="02020603050405020304" pitchFamily="18" charset="0"/>
              </a:rPr>
              <a:t> </a:t>
            </a:r>
            <a:endParaRPr lang="en-IN" sz="1800" b="1">
              <a:effectLst/>
              <a:latin typeface="Comic Sans MS" panose="030F0702030302020204" pitchFamily="66" charset="0"/>
              <a:ea typeface="Times New Roman" panose="02020603050405020304" pitchFamily="18" charset="0"/>
            </a:endParaRPr>
          </a:p>
          <a:p>
            <a:endParaRPr lang="en-US" sz="1400">
              <a:latin typeface="Comic Sans MS" panose="030F0702030302020204" pitchFamily="66" charset="0"/>
            </a:endParaRPr>
          </a:p>
          <a:p>
            <a:pPr marL="0" indent="0">
              <a:buNone/>
            </a:pPr>
            <a:endParaRPr lang="en-US" sz="1400">
              <a:latin typeface="Comic Sans MS" panose="030F0702030302020204" pitchFamily="66" charset="0"/>
            </a:endParaRPr>
          </a:p>
          <a:p>
            <a:r>
              <a:rPr lang="en-IN" sz="180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Decision Tree Regression:</a:t>
            </a:r>
            <a:endParaRPr lang="en-US" sz="1400">
              <a:latin typeface="Comic Sans MS" panose="030F0702030302020204" pitchFamily="66" charset="0"/>
            </a:endParaRPr>
          </a:p>
          <a:p>
            <a:pPr marL="0" indent="0">
              <a:buNone/>
            </a:pPr>
            <a:endParaRPr lang="en-US" sz="1400">
              <a:latin typeface="Comic Sans MS" panose="030F0702030302020204" pitchFamily="66" charset="0"/>
            </a:endParaRPr>
          </a:p>
          <a:p>
            <a:pPr marL="0" indent="0">
              <a:buNone/>
            </a:pPr>
            <a:endParaRPr lang="en-US" sz="1400">
              <a:latin typeface="Comic Sans MS" panose="030F0702030302020204" pitchFamily="66" charset="0"/>
            </a:endParaRPr>
          </a:p>
          <a:p>
            <a:r>
              <a:rPr lang="en-US" sz="1800">
                <a:latin typeface="Comic Sans MS" panose="030F0702030302020204" pitchFamily="66" charset="0"/>
              </a:rPr>
              <a:t>K-N Neighbors Regression:</a:t>
            </a:r>
          </a:p>
          <a:p>
            <a:pPr marL="0" indent="0">
              <a:buNone/>
            </a:pPr>
            <a:endParaRPr lang="en-US" sz="1400" dirty="0">
              <a:latin typeface="Comic Sans MS" panose="030F0702030302020204" pitchFamily="66" charset="0"/>
            </a:endParaRPr>
          </a:p>
        </p:txBody>
      </p:sp>
      <p:pic>
        <p:nvPicPr>
          <p:cNvPr id="7" name="Picture 6">
            <a:extLst>
              <a:ext uri="{FF2B5EF4-FFF2-40B4-BE49-F238E27FC236}">
                <a16:creationId xmlns:a16="http://schemas.microsoft.com/office/drawing/2014/main" id="{C5BE91D1-F20F-4480-9493-A50EA04F4B2B}"/>
              </a:ext>
            </a:extLst>
          </p:cNvPr>
          <p:cNvPicPr>
            <a:picLocks noChangeAspect="1"/>
          </p:cNvPicPr>
          <p:nvPr/>
        </p:nvPicPr>
        <p:blipFill>
          <a:blip r:embed="rId2"/>
          <a:stretch>
            <a:fillRect/>
          </a:stretch>
        </p:blipFill>
        <p:spPr>
          <a:xfrm>
            <a:off x="3873893" y="1796094"/>
            <a:ext cx="6867526" cy="829128"/>
          </a:xfrm>
          <a:prstGeom prst="rect">
            <a:avLst/>
          </a:prstGeom>
        </p:spPr>
      </p:pic>
      <p:pic>
        <p:nvPicPr>
          <p:cNvPr id="8" name="Picture 7">
            <a:extLst>
              <a:ext uri="{FF2B5EF4-FFF2-40B4-BE49-F238E27FC236}">
                <a16:creationId xmlns:a16="http://schemas.microsoft.com/office/drawing/2014/main" id="{C108982F-F324-4C8D-90F8-E0757C255380}"/>
              </a:ext>
            </a:extLst>
          </p:cNvPr>
          <p:cNvPicPr>
            <a:picLocks noChangeAspect="1"/>
          </p:cNvPicPr>
          <p:nvPr/>
        </p:nvPicPr>
        <p:blipFill>
          <a:blip r:embed="rId3"/>
          <a:stretch>
            <a:fillRect/>
          </a:stretch>
        </p:blipFill>
        <p:spPr>
          <a:xfrm>
            <a:off x="4131365" y="3163719"/>
            <a:ext cx="6352583" cy="933988"/>
          </a:xfrm>
          <a:prstGeom prst="rect">
            <a:avLst/>
          </a:prstGeom>
        </p:spPr>
      </p:pic>
      <p:pic>
        <p:nvPicPr>
          <p:cNvPr id="9" name="Picture 8">
            <a:extLst>
              <a:ext uri="{FF2B5EF4-FFF2-40B4-BE49-F238E27FC236}">
                <a16:creationId xmlns:a16="http://schemas.microsoft.com/office/drawing/2014/main" id="{2EF4EB7D-563B-470E-ABE1-1D9DAD12E4DE}"/>
              </a:ext>
            </a:extLst>
          </p:cNvPr>
          <p:cNvPicPr>
            <a:picLocks noChangeAspect="1"/>
          </p:cNvPicPr>
          <p:nvPr/>
        </p:nvPicPr>
        <p:blipFill>
          <a:blip r:embed="rId4"/>
          <a:stretch>
            <a:fillRect/>
          </a:stretch>
        </p:blipFill>
        <p:spPr>
          <a:xfrm>
            <a:off x="4251463" y="4024182"/>
            <a:ext cx="5730737" cy="1164437"/>
          </a:xfrm>
          <a:prstGeom prst="rect">
            <a:avLst/>
          </a:prstGeom>
        </p:spPr>
      </p:pic>
    </p:spTree>
    <p:extLst>
      <p:ext uri="{BB962C8B-B14F-4D97-AF65-F5344CB8AC3E}">
        <p14:creationId xmlns:p14="http://schemas.microsoft.com/office/powerpoint/2010/main" val="2382721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1CE9633-1493-48A0-9D50-ED98434E5FCC}"/>
              </a:ext>
            </a:extLst>
          </p:cNvPr>
          <p:cNvPicPr>
            <a:picLocks noChangeAspect="1"/>
          </p:cNvPicPr>
          <p:nvPr/>
        </p:nvPicPr>
        <p:blipFill>
          <a:blip r:embed="rId2"/>
          <a:stretch>
            <a:fillRect/>
          </a:stretch>
        </p:blipFill>
        <p:spPr>
          <a:xfrm>
            <a:off x="6541053" y="650160"/>
            <a:ext cx="5426358" cy="494853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4" name="Arc 23">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47D61C-6C17-4666-9520-7B604BEB0984}"/>
              </a:ext>
            </a:extLst>
          </p:cNvPr>
          <p:cNvSpPr>
            <a:spLocks noGrp="1"/>
          </p:cNvSpPr>
          <p:nvPr>
            <p:ph type="title"/>
          </p:nvPr>
        </p:nvSpPr>
        <p:spPr>
          <a:xfrm>
            <a:off x="393148" y="280052"/>
            <a:ext cx="5923316" cy="1325563"/>
          </a:xfrm>
        </p:spPr>
        <p:txBody>
          <a:bodyPr>
            <a:normAutofit/>
          </a:bodyPr>
          <a:lstStyle/>
          <a:p>
            <a:r>
              <a:rPr lang="en-US" sz="2400" dirty="0">
                <a:latin typeface="Comic Sans MS" panose="030F0702030302020204" pitchFamily="66" charset="0"/>
              </a:rPr>
              <a:t>Random Forest regression model with Hyper parameter tuning method:</a:t>
            </a:r>
            <a:endParaRPr lang="en-IN" sz="2400" dirty="0"/>
          </a:p>
        </p:txBody>
      </p:sp>
      <p:sp>
        <p:nvSpPr>
          <p:cNvPr id="3" name="Content Placeholder 2">
            <a:extLst>
              <a:ext uri="{FF2B5EF4-FFF2-40B4-BE49-F238E27FC236}">
                <a16:creationId xmlns:a16="http://schemas.microsoft.com/office/drawing/2014/main" id="{8486F424-1683-468C-96F2-2FD2EBC677A5}"/>
              </a:ext>
            </a:extLst>
          </p:cNvPr>
          <p:cNvSpPr>
            <a:spLocks noGrp="1"/>
          </p:cNvSpPr>
          <p:nvPr>
            <p:ph idx="1"/>
          </p:nvPr>
        </p:nvSpPr>
        <p:spPr>
          <a:xfrm>
            <a:off x="224588" y="1605615"/>
            <a:ext cx="5871413" cy="4571348"/>
          </a:xfrm>
        </p:spPr>
        <p:txBody>
          <a:bodyPr>
            <a:normAutofit/>
          </a:bodyPr>
          <a:lstStyle/>
          <a:p>
            <a:r>
              <a:rPr lang="en-US" sz="2000" dirty="0">
                <a:latin typeface="Comic Sans MS" panose="030F0702030302020204" pitchFamily="66" charset="0"/>
              </a:rPr>
              <a:t>Out of all models Random Forest regression is having R2 Score: 81.10033953331379 and Cross validation Score: 84.42578434420281. So, this model is finalized and further saved.</a:t>
            </a:r>
          </a:p>
          <a:p>
            <a:pPr marL="0" indent="0">
              <a:buNone/>
            </a:pPr>
            <a:endParaRPr lang="en-US" sz="2000" dirty="0">
              <a:latin typeface="Comic Sans MS" panose="030F0702030302020204" pitchFamily="66" charset="0"/>
            </a:endParaRPr>
          </a:p>
          <a:p>
            <a:r>
              <a:rPr lang="en-US" sz="2000" dirty="0">
                <a:latin typeface="Comic Sans MS" panose="030F0702030302020204" pitchFamily="66" charset="0"/>
              </a:rPr>
              <a:t>Saving the model and Loading the data is the further most step, now is that my model is trained it goes to testing phase.</a:t>
            </a:r>
          </a:p>
          <a:p>
            <a:endParaRPr lang="en-US" sz="2000" dirty="0">
              <a:latin typeface="Comic Sans MS" panose="030F0702030302020204" pitchFamily="66" charset="0"/>
            </a:endParaRPr>
          </a:p>
          <a:p>
            <a:endParaRPr lang="en-US" sz="2000" dirty="0">
              <a:latin typeface="Comic Sans MS" panose="030F0702030302020204" pitchFamily="66" charset="0"/>
            </a:endParaRPr>
          </a:p>
          <a:p>
            <a:pPr>
              <a:buFont typeface="Wingdings" panose="05000000000000000000" pitchFamily="2" charset="2"/>
              <a:buChar char="q"/>
            </a:pPr>
            <a:r>
              <a:rPr lang="en-US" sz="2000" dirty="0">
                <a:latin typeface="Comic Sans MS" panose="030F0702030302020204" pitchFamily="66" charset="0"/>
              </a:rPr>
              <a:t>Prediction of the modified testing data using the trained model is done using the trained random forest model and join with the test data.</a:t>
            </a:r>
            <a:endParaRPr lang="en-IN" sz="2000" dirty="0">
              <a:latin typeface="Comic Sans MS" panose="030F0702030302020204" pitchFamily="66" charset="0"/>
            </a:endParaRPr>
          </a:p>
        </p:txBody>
      </p:sp>
      <p:sp>
        <p:nvSpPr>
          <p:cNvPr id="4" name="Date Placeholder 3">
            <a:extLst>
              <a:ext uri="{FF2B5EF4-FFF2-40B4-BE49-F238E27FC236}">
                <a16:creationId xmlns:a16="http://schemas.microsoft.com/office/drawing/2014/main" id="{B0B6ED1C-971B-4FD3-B438-933A0BE3C297}"/>
              </a:ext>
            </a:extLst>
          </p:cNvPr>
          <p:cNvSpPr>
            <a:spLocks noGrp="1"/>
          </p:cNvSpPr>
          <p:nvPr>
            <p:ph type="dt" sz="half" idx="10"/>
          </p:nvPr>
        </p:nvSpPr>
        <p:spPr>
          <a:xfrm>
            <a:off x="838200" y="6356350"/>
            <a:ext cx="2743200" cy="365125"/>
          </a:xfrm>
        </p:spPr>
        <p:txBody>
          <a:bodyPr>
            <a:normAutofit/>
          </a:bodyPr>
          <a:lstStyle/>
          <a:p>
            <a:pPr>
              <a:spcAft>
                <a:spcPts val="600"/>
              </a:spcAft>
              <a:defRPr/>
            </a:pPr>
            <a:r>
              <a:rPr lang="en-US">
                <a:solidFill>
                  <a:prstClr val="black">
                    <a:tint val="75000"/>
                  </a:prstClr>
                </a:solidFill>
              </a:rPr>
              <a:t>9/3/20XX</a:t>
            </a:r>
          </a:p>
        </p:txBody>
      </p:sp>
      <p:sp>
        <p:nvSpPr>
          <p:cNvPr id="5" name="Footer Placeholder 4">
            <a:extLst>
              <a:ext uri="{FF2B5EF4-FFF2-40B4-BE49-F238E27FC236}">
                <a16:creationId xmlns:a16="http://schemas.microsoft.com/office/drawing/2014/main" id="{9E700500-418C-41EC-A6D8-F94F6782F5C3}"/>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4396A7C8-3A5C-4BF5-B0BA-D378E5D3E4E6}"/>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D76B855D-E9CC-4FF8-AD85-6CDC7B89A0DE}" type="slidenum">
              <a:rPr lang="en-US">
                <a:solidFill>
                  <a:prstClr val="black">
                    <a:tint val="75000"/>
                  </a:prstClr>
                </a:solidFill>
              </a:rPr>
              <a:pPr>
                <a:spcAft>
                  <a:spcPts val="600"/>
                </a:spcAft>
                <a:defRPr/>
              </a:pPr>
              <a:t>12</a:t>
            </a:fld>
            <a:endParaRPr lang="en-US">
              <a:solidFill>
                <a:prstClr val="black">
                  <a:tint val="75000"/>
                </a:prstClr>
              </a:solidFill>
            </a:endParaRPr>
          </a:p>
        </p:txBody>
      </p:sp>
    </p:spTree>
    <p:extLst>
      <p:ext uri="{BB962C8B-B14F-4D97-AF65-F5344CB8AC3E}">
        <p14:creationId xmlns:p14="http://schemas.microsoft.com/office/powerpoint/2010/main" val="1669640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Freeform: Shape 18">
            <a:extLst>
              <a:ext uri="{FF2B5EF4-FFF2-40B4-BE49-F238E27FC236}">
                <a16:creationId xmlns:a16="http://schemas.microsoft.com/office/drawing/2014/main" id="{23DA7759-3209-4FE2-96D1-4EEDD81E9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94433" y="2"/>
            <a:ext cx="849328" cy="357668"/>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0">
            <a:extLst>
              <a:ext uri="{FF2B5EF4-FFF2-40B4-BE49-F238E27FC236}">
                <a16:creationId xmlns:a16="http://schemas.microsoft.com/office/drawing/2014/main" id="{41460DAD-8769-4C9F-9C8C-BB0443909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3536" y="5717905"/>
            <a:ext cx="1771609" cy="1140095"/>
          </a:xfrm>
          <a:custGeom>
            <a:avLst/>
            <a:gdLst/>
            <a:ahLst/>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useBgFill="1">
        <p:nvSpPr>
          <p:cNvPr id="30" name="Rectangle 2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E45C6405-9D6C-48F5-9EFB-4CF1F3193EA4}"/>
              </a:ext>
            </a:extLst>
          </p:cNvPr>
          <p:cNvSpPr>
            <a:spLocks noGrp="1"/>
          </p:cNvSpPr>
          <p:nvPr>
            <p:ph type="title"/>
          </p:nvPr>
        </p:nvSpPr>
        <p:spPr>
          <a:xfrm>
            <a:off x="838201" y="367075"/>
            <a:ext cx="5120561" cy="1325563"/>
          </a:xfrm>
        </p:spPr>
        <p:txBody>
          <a:bodyPr vert="horz" lIns="91440" tIns="45720" rIns="91440" bIns="45720" rtlCol="0" anchor="ctr">
            <a:normAutofit/>
          </a:bodyPr>
          <a:lstStyle/>
          <a:p>
            <a:r>
              <a:rPr lang="en-US" sz="3600" kern="1200" dirty="0">
                <a:solidFill>
                  <a:schemeClr val="tx1"/>
                </a:solidFill>
                <a:latin typeface="Comic Sans MS" panose="030F0702030302020204" pitchFamily="66" charset="0"/>
              </a:rPr>
              <a:t>Conclusion</a:t>
            </a:r>
          </a:p>
        </p:txBody>
      </p:sp>
      <p:sp>
        <p:nvSpPr>
          <p:cNvPr id="5" name="Content Placeholder 4">
            <a:extLst>
              <a:ext uri="{FF2B5EF4-FFF2-40B4-BE49-F238E27FC236}">
                <a16:creationId xmlns:a16="http://schemas.microsoft.com/office/drawing/2014/main" id="{42E3A3A9-5E96-4CDD-A971-9C272EFD97D9}"/>
              </a:ext>
            </a:extLst>
          </p:cNvPr>
          <p:cNvSpPr>
            <a:spLocks noGrp="1"/>
          </p:cNvSpPr>
          <p:nvPr>
            <p:ph idx="1"/>
          </p:nvPr>
        </p:nvSpPr>
        <p:spPr>
          <a:xfrm>
            <a:off x="225946" y="1364732"/>
            <a:ext cx="6035662" cy="4812231"/>
          </a:xfrm>
        </p:spPr>
        <p:txBody>
          <a:bodyPr vert="horz" lIns="91440" tIns="45720" rIns="91440" bIns="45720" rtlCol="0">
            <a:normAutofit/>
          </a:bodyPr>
          <a:lstStyle/>
          <a:p>
            <a:pPr indent="-228600">
              <a:buFont typeface="Arial" panose="020B0604020202020204" pitchFamily="34" charset="0"/>
              <a:buChar char="•"/>
            </a:pPr>
            <a:r>
              <a:rPr lang="en-US" sz="1900" dirty="0">
                <a:latin typeface="Comic Sans MS" panose="030F0702030302020204" pitchFamily="66" charset="0"/>
              </a:rPr>
              <a:t>The above trained regression model with 1460 rows and 81 columns can predict only 81% with cross validation around 84% which can be further processed with maximum results using several techniques to remove outliers completely.</a:t>
            </a:r>
          </a:p>
          <a:p>
            <a:pPr indent="-228600">
              <a:buFont typeface="Arial" panose="020B0604020202020204" pitchFamily="34" charset="0"/>
              <a:buChar char="•"/>
            </a:pPr>
            <a:r>
              <a:rPr lang="en-US" sz="1900" dirty="0">
                <a:latin typeface="Comic Sans MS" panose="030F0702030302020204" pitchFamily="66" charset="0"/>
              </a:rPr>
              <a:t>This data set has many limitations. The largest limitation is that we have no information about potential buyers and the environment of the sale. Factors such as auctions can have an influence on the price of a house due to bidding wars and ego. The data was gathered over a period of one year, so it does not capture much seasonality and does not consider economic factors.</a:t>
            </a:r>
          </a:p>
          <a:p>
            <a:pPr indent="-228600">
              <a:buFont typeface="Arial" panose="020B0604020202020204" pitchFamily="34" charset="0"/>
              <a:buChar char="•"/>
            </a:pPr>
            <a:r>
              <a:rPr lang="en-US" sz="1900" dirty="0">
                <a:latin typeface="Comic Sans MS" panose="030F0702030302020204" pitchFamily="66" charset="0"/>
              </a:rPr>
              <a:t> An interesting area for future work would be to examine buyer related data with house characteristics.</a:t>
            </a:r>
          </a:p>
          <a:p>
            <a:pPr indent="-228600">
              <a:buFont typeface="Arial" panose="020B0604020202020204" pitchFamily="34" charset="0"/>
              <a:buChar char="•"/>
            </a:pPr>
            <a:endParaRPr lang="en-US" dirty="0"/>
          </a:p>
        </p:txBody>
      </p:sp>
      <p:sp>
        <p:nvSpPr>
          <p:cNvPr id="31" name="Oval 2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Date Placeholder 11">
            <a:extLst>
              <a:ext uri="{FF2B5EF4-FFF2-40B4-BE49-F238E27FC236}">
                <a16:creationId xmlns:a16="http://schemas.microsoft.com/office/drawing/2014/main" id="{C01975C7-D604-4AD4-85CC-2EFC92D81A7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normalizeH="0" noProof="0">
                <a:ln>
                  <a:noFill/>
                </a:ln>
                <a:solidFill>
                  <a:prstClr val="black">
                    <a:tint val="75000"/>
                  </a:prstClr>
                </a:solidFill>
                <a:effectLst/>
                <a:uLnTx/>
                <a:uFillTx/>
              </a:rPr>
              <a:t>9/3/20XX</a:t>
            </a:r>
          </a:p>
        </p:txBody>
      </p:sp>
      <p:pic>
        <p:nvPicPr>
          <p:cNvPr id="2" name="Picture 1">
            <a:extLst>
              <a:ext uri="{FF2B5EF4-FFF2-40B4-BE49-F238E27FC236}">
                <a16:creationId xmlns:a16="http://schemas.microsoft.com/office/drawing/2014/main" id="{6F7BA28A-7425-40C6-8CC6-828D42008999}"/>
              </a:ext>
            </a:extLst>
          </p:cNvPr>
          <p:cNvPicPr>
            <a:picLocks noChangeAspect="1"/>
          </p:cNvPicPr>
          <p:nvPr/>
        </p:nvPicPr>
        <p:blipFill rotWithShape="1">
          <a:blip r:embed="rId2"/>
          <a:srcRect l="14540" r="12083"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7" name="Arc 2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Placeholder 9">
            <a:extLst>
              <a:ext uri="{FF2B5EF4-FFF2-40B4-BE49-F238E27FC236}">
                <a16:creationId xmlns:a16="http://schemas.microsoft.com/office/drawing/2014/main" id="{132155E7-EE1C-4F0B-896E-B80A92669D8F}"/>
              </a:ext>
            </a:extLst>
          </p:cNvPr>
          <p:cNvPicPr>
            <a:picLocks noGrp="1" noChangeAspect="1"/>
          </p:cNvPicPr>
          <p:nvPr>
            <p:ph type="pic" sz="quarter" idx="14"/>
          </p:nvPr>
        </p:nvPicPr>
        <p:blipFill rotWithShape="1">
          <a:blip r:embed="rId3"/>
          <a:srcRect l="15661" r="18574" b="-2"/>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13" name="Footer Placeholder 12">
            <a:extLst>
              <a:ext uri="{FF2B5EF4-FFF2-40B4-BE49-F238E27FC236}">
                <a16:creationId xmlns:a16="http://schemas.microsoft.com/office/drawing/2014/main" id="{E0C27B2A-1D72-43E3-82D3-29739485AA73}"/>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b="0" i="0" u="none" strike="noStrike" kern="1200" cap="none" spc="0" normalizeH="0" baseline="0" noProof="0">
                <a:ln>
                  <a:noFill/>
                </a:ln>
                <a:solidFill>
                  <a:prstClr val="black">
                    <a:tint val="75000"/>
                  </a:prstClr>
                </a:solidFill>
                <a:effectLst/>
                <a:uLnTx/>
                <a:uFillTx/>
                <a:latin typeface="+mn-lt"/>
                <a:ea typeface="+mn-ea"/>
                <a:cs typeface="+mn-cs"/>
              </a:rPr>
              <a:t>Presentation Title</a:t>
            </a:r>
          </a:p>
        </p:txBody>
      </p:sp>
      <p:sp>
        <p:nvSpPr>
          <p:cNvPr id="14" name="Slide Number Placeholder 13">
            <a:extLst>
              <a:ext uri="{FF2B5EF4-FFF2-40B4-BE49-F238E27FC236}">
                <a16:creationId xmlns:a16="http://schemas.microsoft.com/office/drawing/2014/main" id="{DC4D09A1-D96F-4BFC-8475-2F079EAD865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D76B855D-E9CC-4FF8-AD85-6CDC7B89A0DE}" type="slidenum">
              <a:rPr kumimoji="0" lang="en-US" b="0" i="0" u="none" strike="noStrike" normalizeH="0" noProof="0">
                <a:ln>
                  <a:noFill/>
                </a:ln>
                <a:solidFill>
                  <a:srgbClr val="FFFFFF"/>
                </a:solidFill>
                <a:effectLst/>
                <a:uLnTx/>
                <a:uFillTx/>
              </a:rPr>
              <a:pPr marR="0" lvl="0" indent="0" fontAlgn="auto">
                <a:spcBef>
                  <a:spcPts val="0"/>
                </a:spcBef>
                <a:spcAft>
                  <a:spcPts val="600"/>
                </a:spcAft>
                <a:buClrTx/>
                <a:buSzTx/>
                <a:buFontTx/>
                <a:buNone/>
                <a:tabLst/>
                <a:defRPr/>
              </a:pPr>
              <a:t>13</a:t>
            </a:fld>
            <a:endParaRPr kumimoji="0" lang="en-US" b="0" i="0" u="none" strike="noStrike" normalizeH="0" noProof="0">
              <a:ln>
                <a:noFill/>
              </a:ln>
              <a:solidFill>
                <a:srgbClr val="FFFFFF"/>
              </a:solidFill>
              <a:effectLst/>
              <a:uLnTx/>
              <a:uFillTx/>
            </a:endParaRPr>
          </a:p>
        </p:txBody>
      </p:sp>
    </p:spTree>
    <p:extLst>
      <p:ext uri="{BB962C8B-B14F-4D97-AF65-F5344CB8AC3E}">
        <p14:creationId xmlns:p14="http://schemas.microsoft.com/office/powerpoint/2010/main" val="17839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37">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Arc 39">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80E5FECD-C9FF-49B3-B1FD-6B2D855C4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2">
              <a:lumMod val="7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1A0D3A79-E200-4B04-BD19-7CDCB6504A40}"/>
              </a:ext>
            </a:extLst>
          </p:cNvPr>
          <p:cNvPicPr>
            <a:picLocks noChangeAspect="1"/>
          </p:cNvPicPr>
          <p:nvPr/>
        </p:nvPicPr>
        <p:blipFill>
          <a:blip r:embed="rId2"/>
          <a:stretch>
            <a:fillRect/>
          </a:stretch>
        </p:blipFill>
        <p:spPr>
          <a:xfrm>
            <a:off x="4157554" y="1441292"/>
            <a:ext cx="4055897" cy="4055897"/>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48" name="Freeform: Shape 4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lumMod val="7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2">
              <a:lumMod val="7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Shape 5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2">
              <a:lumMod val="7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8919816"/>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486</TotalTime>
  <Words>853</Words>
  <Application>Microsoft Office PowerPoint</Application>
  <PresentationFormat>Widescreen</PresentationFormat>
  <Paragraphs>113</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Algerian</vt:lpstr>
      <vt:lpstr>Arial</vt:lpstr>
      <vt:lpstr>Avenir Next LT Pro</vt:lpstr>
      <vt:lpstr>Bauhaus 93</vt:lpstr>
      <vt:lpstr>Calibri</vt:lpstr>
      <vt:lpstr>Comic Sans MS</vt:lpstr>
      <vt:lpstr>Franklin Gothic Demi</vt:lpstr>
      <vt:lpstr>Times New Roman</vt:lpstr>
      <vt:lpstr>Tw Cen MT</vt:lpstr>
      <vt:lpstr>Wingdings</vt:lpstr>
      <vt:lpstr>ShapesVTI</vt:lpstr>
      <vt:lpstr>Prediction of House Price</vt:lpstr>
      <vt:lpstr>Agenda</vt:lpstr>
      <vt:lpstr>Introduction:</vt:lpstr>
      <vt:lpstr>Experimental Setup: </vt:lpstr>
      <vt:lpstr>Data analysis </vt:lpstr>
      <vt:lpstr>PowerPoint Presentation</vt:lpstr>
      <vt:lpstr>PowerPoint Presentation</vt:lpstr>
      <vt:lpstr>Data Pre-Processing</vt:lpstr>
      <vt:lpstr>PowerPoint Presentation</vt:lpstr>
      <vt:lpstr>Model Building: linear regression Model:</vt:lpstr>
      <vt:lpstr>Ensemble Approaches for model building and their outputs</vt:lpstr>
      <vt:lpstr>Random Forest regression model with Hyper parameter tuning method: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House Price</dc:title>
  <dc:creator>Neelam, Kishore Veera Venkata</dc:creator>
  <cp:lastModifiedBy>Neelam, Kishore Veera Venkata</cp:lastModifiedBy>
  <cp:revision>3</cp:revision>
  <dcterms:created xsi:type="dcterms:W3CDTF">2022-04-23T04:48:30Z</dcterms:created>
  <dcterms:modified xsi:type="dcterms:W3CDTF">2022-04-23T12:55:05Z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ea60d57e-af5b-4752-ac57-3e4f28ca11dc_Enabled">
    <vt:lpwstr>true</vt:lpwstr>
  </property>
  <property fmtid="{D5CDD505-2E9C-101B-9397-08002B2CF9AE}" pid="4" name="MSIP_Label_ea60d57e-af5b-4752-ac57-3e4f28ca11dc_SetDate">
    <vt:lpwstr>2022-04-23T04:48:38Z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5031f3fe-4f8c-4aca-86e5-6fc33be4117d</vt:lpwstr>
  </property>
  <property fmtid="{D5CDD505-2E9C-101B-9397-08002B2CF9AE}" pid="9" name="MSIP_Label_ea60d57e-af5b-4752-ac57-3e4f28ca11dc_ContentBits">
    <vt:lpwstr>0</vt:lpwstr>
  </property>
</Properties>
</file>